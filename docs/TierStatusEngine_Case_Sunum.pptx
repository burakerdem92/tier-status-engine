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78" autoAdjust="0"/>
  </p:normalViewPr>
  <p:slideViewPr>
    <p:cSldViewPr snapToGrid="0" snapToObjects="1">
      <p:cViewPr varScale="1">
        <p:scale>
          <a:sx n="140" d="100"/>
          <a:sy n="140" d="100"/>
        </p:scale>
        <p:origin x="10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48F950-3619-45CA-85CB-5D7118DCB2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EDD2BB-9B64-486F-9904-9E13DC0FAB52}"/>
              </a:ext>
            </a:extLst>
          </p:cNvPr>
          <p:cNvSpPr>
            <a:spLocks noGrp="1"/>
          </p:cNvSpPr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6510">
            <a:solidFill>
              <a:srgbClr val="E31B23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FC1BC4-44D2-47A5-B58B-565B23518EF3}"/>
              </a:ext>
            </a:extLst>
          </p:cNvPr>
          <p:cNvSpPr>
            <a:spLocks noGrp="1"/>
          </p:cNvSpPr>
          <p:nvPr/>
        </p:nvSpPr>
        <p:spPr>
          <a:xfrm>
            <a:off x="502920" y="6537960"/>
            <a:ext cx="27432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Tier Status Engine</a:t>
            </a: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7CAF046-3566-42BB-9917-06E35A16B51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A4C33C7-6D65-454B-8D6A-E59BE9D6E32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443F2C92-8E74-41ED-9957-97169A10BD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D71920"/>
          </a:solidFill>
          <a:ln w="0">
            <a:noFill/>
          </a:ln>
        </p:spPr>
      </p:sp>
      <p:pic>
        <p:nvPicPr>
          <p:cNvPr id="14" name="Resim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" y="495965"/>
            <a:ext cx="3333750" cy="665419"/>
          </a:xfrm>
          <a:prstGeom prst="rect">
            <a:avLst/>
          </a:prstGeom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506C5D3F-49A5-4D16-8DFB-CCCA276CFE29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 i="0">
                <a:solidFill>
                  <a:srgbClr val="2D5DA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2D5DA8"/>
                </a:solidFill>
                <a:latin typeface="DejaVu Sans"/>
                <a:ea typeface="DejaVu Sans"/>
                <a:cs typeface="DejaVu Sans"/>
              </a:rPr>
              <a:t>Miles&amp;Smiles Statü Hesaplama ve Yönetim Projesi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6467222-8CE1-4CFF-80AE-3A1E628C3EDF}"/>
              </a:ext>
            </a:extLst>
          </p:cNvPr>
          <p:cNvSpPr>
            <a:spLocks noGrp="1"/>
          </p:cNvSpPr>
          <p:nvPr/>
        </p:nvSpPr>
        <p:spPr>
          <a:xfrm>
            <a:off x="723900" y="2247900"/>
            <a:ext cx="9906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75" b="1" i="0">
                <a:solidFill>
                  <a:srgbClr val="12263A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 i="0">
                <a:solidFill>
                  <a:srgbClr val="12263A"/>
                </a:solidFill>
                <a:latin typeface="DejaVu Sans"/>
                <a:ea typeface="DejaVu Sans"/>
                <a:cs typeface="DejaVu Sans"/>
              </a:rPr>
              <a:t>Tier Status Engine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5C95081-766D-453D-B2CB-7FA7E021C46C}"/>
              </a:ext>
            </a:extLst>
          </p:cNvPr>
          <p:cNvSpPr>
            <a:spLocks noGrp="1"/>
          </p:cNvSpPr>
          <p:nvPr/>
        </p:nvSpPr>
        <p:spPr>
          <a:xfrm>
            <a:off x="723900" y="2985421"/>
            <a:ext cx="1333500" cy="47625"/>
          </a:xfrm>
          <a:prstGeom prst="rect">
            <a:avLst/>
          </a:prstGeom>
          <a:solidFill>
            <a:srgbClr val="D71920"/>
          </a:solidFill>
          <a:ln w="0">
            <a:noFill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71DA8E3-3AFD-420B-9548-E6C5FABB2AF4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 i="0">
                <a:solidFill>
                  <a:srgbClr val="1226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12263A"/>
                </a:solidFill>
                <a:latin typeface="DejaVu Sans"/>
                <a:ea typeface="DejaVu Sans"/>
                <a:cs typeface="DejaVu Sans"/>
              </a:rPr>
              <a:t>Burak Erdem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D3F3006-6D6F-431D-952C-F2863E3931A7}"/>
              </a:ext>
            </a:extLst>
          </p:cNvPr>
          <p:cNvSpPr>
            <a:spLocks noGrp="1"/>
          </p:cNvSpPr>
          <p:nvPr/>
        </p:nvSpPr>
        <p:spPr>
          <a:xfrm>
            <a:off x="742950" y="48958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Software Engineer, Eylül 2026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EB09039-3026-4ADA-B1DC-A5E81A3B9F6A}"/>
              </a:ext>
            </a:extLst>
          </p:cNvPr>
          <p:cNvSpPr>
            <a:spLocks noGrp="1"/>
          </p:cNvSpPr>
          <p:nvPr/>
        </p:nvSpPr>
        <p:spPr>
          <a:xfrm>
            <a:off x="742950" y="619125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825" b="0" i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Teknik vaka sunumu</a:t>
            </a:r>
          </a:p>
        </p:txBody>
      </p:sp>
    </p:spTree>
    <p:extLst>
      <p:ext uri="{BB962C8B-B14F-4D97-AF65-F5344CB8AC3E}">
        <p14:creationId xmlns:p14="http://schemas.microsoft.com/office/powerpoint/2010/main" val="1891625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DD85AF-5D41-49FE-99AF-09ACFE58CD66}"/>
              </a:ext>
            </a:extLst>
          </p:cNvPr>
          <p:cNvSpPr>
            <a:spLocks noGrp="1"/>
          </p:cNvSpPr>
          <p:nvPr/>
        </p:nvSpPr>
        <p:spPr>
          <a:xfrm>
            <a:off x="502920" y="164592"/>
            <a:ext cx="18288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 b="1">
                <a:solidFill>
                  <a:srgbClr val="E31B23"/>
                </a:solidFill>
                <a:latin typeface="Aptos"/>
                <a:ea typeface="Aptos"/>
                <a:cs typeface="Aptos"/>
              </a:rPr>
              <a:t>İHTİYAÇ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F5D7E5-EBC6-450D-AEF3-65303DE74290}"/>
              </a:ext>
            </a:extLst>
          </p:cNvPr>
          <p:cNvSpPr>
            <a:spLocks noGrp="1"/>
          </p:cNvSpPr>
          <p:nvPr/>
        </p:nvSpPr>
        <p:spPr>
          <a:xfrm>
            <a:off x="502920" y="49377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3263A"/>
                </a:solidFill>
                <a:latin typeface="Aptos Display"/>
                <a:ea typeface="Aptos Display"/>
                <a:cs typeface="Aptos Display"/>
              </a:rPr>
              <a:t>Mevcut durum ve hedef</a:t>
            </a:r>
            <a:endParaRPr sz="27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47D6894-B5D3-4F10-AF43-E8A15A4E3709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3108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74C7FEF-DE5A-4ECF-8E47-5530494BC80E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3108960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E7EFEE4-4C47-435B-A18C-ADB1F5BCA84B}"/>
              </a:ext>
            </a:extLst>
          </p:cNvPr>
          <p:cNvSpPr>
            <a:spLocks noGrp="1"/>
          </p:cNvSpPr>
          <p:nvPr/>
        </p:nvSpPr>
        <p:spPr>
          <a:xfrm>
            <a:off x="4572000" y="1828800"/>
            <a:ext cx="3108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6D4F83D-2D4F-430E-A62D-96CE9B6940F8}"/>
              </a:ext>
            </a:extLst>
          </p:cNvPr>
          <p:cNvSpPr>
            <a:spLocks noGrp="1"/>
          </p:cNvSpPr>
          <p:nvPr/>
        </p:nvSpPr>
        <p:spPr>
          <a:xfrm>
            <a:off x="4572000" y="1828800"/>
            <a:ext cx="3108960" cy="73152"/>
          </a:xfrm>
          <a:prstGeom prst="rect">
            <a:avLst/>
          </a:prstGeom>
          <a:solidFill>
            <a:srgbClr val="2D5CAA"/>
          </a:solidFill>
          <a:ln w="12700">
            <a:solidFill>
              <a:srgbClr val="2D5CA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FE82EB3-E2C6-4A6D-B48B-E3F0D9885FBE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3108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FE4BEA-5093-423E-A864-B6D46076D5CC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3108960" cy="73152"/>
          </a:xfrm>
          <a:prstGeom prst="rect">
            <a:avLst/>
          </a:prstGeom>
          <a:solidFill>
            <a:srgbClr val="0D7F5B"/>
          </a:solidFill>
          <a:ln w="12700">
            <a:solidFill>
              <a:srgbClr val="0D7F5B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B2EF766-8371-4EF4-A8AA-1483E3823B44}"/>
              </a:ext>
            </a:extLst>
          </p:cNvPr>
          <p:cNvSpPr>
            <a:spLocks noGrp="1"/>
          </p:cNvSpPr>
          <p:nvPr/>
        </p:nvSpPr>
        <p:spPr>
          <a:xfrm>
            <a:off x="960120" y="2240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3263A"/>
                </a:solidFill>
              </a:rPr>
              <a:t>Bugün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EE9EBE-1B6E-4F69-BCD3-4FDC3180FECA}"/>
              </a:ext>
            </a:extLst>
          </p:cNvPr>
          <p:cNvSpPr>
            <a:spLocks noGrp="1"/>
          </p:cNvSpPr>
          <p:nvPr/>
        </p:nvSpPr>
        <p:spPr>
          <a:xfrm>
            <a:off x="960120" y="2880360"/>
            <a:ext cx="2560320" cy="68580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320">
                <a:solidFill>
                  <a:srgbClr val="24364B"/>
                </a:solidFill>
              </a:rPr>
              <a:t>Uçuş veya partner işlemi gelir; statü geceki batch hesabını bekler.</a:t>
            </a:r>
            <a:endParaRPr sz="132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E843DA-260C-463B-8F59-4C8006547E42}"/>
              </a:ext>
            </a:extLst>
          </p:cNvPr>
          <p:cNvSpPr>
            <a:spLocks noGrp="1"/>
          </p:cNvSpPr>
          <p:nvPr/>
        </p:nvSpPr>
        <p:spPr>
          <a:xfrm>
            <a:off x="4846320" y="2240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3263A"/>
                </a:solidFill>
              </a:rPr>
              <a:t>Hedef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AAA2439-2D5E-465C-B884-7241ED233102}"/>
              </a:ext>
            </a:extLst>
          </p:cNvPr>
          <p:cNvSpPr>
            <a:spLocks noGrp="1"/>
          </p:cNvSpPr>
          <p:nvPr/>
        </p:nvSpPr>
        <p:spPr>
          <a:xfrm>
            <a:off x="4846320" y="2788920"/>
            <a:ext cx="2560320" cy="82296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320">
                <a:solidFill>
                  <a:srgbClr val="24364B"/>
                </a:solidFill>
              </a:rPr>
              <a:t>Olay gelince statü mili hesaplanır; eşik aşılırsa statü güncellenir.</a:t>
            </a:r>
            <a:endParaRPr sz="13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4671CB0-6AA8-4BC2-AC59-37047213DA2B}"/>
              </a:ext>
            </a:extLst>
          </p:cNvPr>
          <p:cNvSpPr>
            <a:spLocks noGrp="1"/>
          </p:cNvSpPr>
          <p:nvPr/>
        </p:nvSpPr>
        <p:spPr>
          <a:xfrm>
            <a:off x="8732520" y="2240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3263A"/>
                </a:solidFill>
              </a:rPr>
              <a:t>Sonuç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160A86D-C4F2-4359-9264-D83BD3B9C5C6}"/>
              </a:ext>
            </a:extLst>
          </p:cNvPr>
          <p:cNvSpPr>
            <a:spLocks noGrp="1"/>
          </p:cNvSpPr>
          <p:nvPr/>
        </p:nvSpPr>
        <p:spPr>
          <a:xfrm>
            <a:off x="8732520" y="2852928"/>
            <a:ext cx="2644726" cy="68580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320">
                <a:solidFill>
                  <a:srgbClr val="24364B"/>
                </a:solidFill>
              </a:rPr>
              <a:t>Güncel statü API’de görünür; değişiklik ilgili sistemlere bildirilir.</a:t>
            </a:r>
            <a:endParaRPr sz="132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4A680EF-E527-4506-878C-0824E8B3E404}"/>
              </a:ext>
            </a:extLst>
          </p:cNvPr>
          <p:cNvSpPr>
            <a:spLocks noGrp="1"/>
          </p:cNvSpPr>
          <p:nvPr/>
        </p:nvSpPr>
        <p:spPr>
          <a:xfrm>
            <a:off x="868680" y="6007608"/>
            <a:ext cx="10451592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238">
                <a:solidFill>
                  <a:srgbClr val="22354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22354B"/>
                </a:solidFill>
                <a:latin typeface="Aptos"/>
                <a:ea typeface="Aptos"/>
                <a:cs typeface="Aptos"/>
              </a:rPr>
              <a:t>Örnek: ELITE eşiğini bugün aşan üye, statü güncellemesi için geceyi beklemez.</a:t>
            </a:r>
            <a:endParaRPr sz="11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DBADBA7-B6F5-45B5-B80D-B84B0019AD3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695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ED3156-E83C-4D24-9280-16EA310D4AD0}"/>
              </a:ext>
            </a:extLst>
          </p:cNvPr>
          <p:cNvSpPr>
            <a:spLocks noGrp="1"/>
          </p:cNvSpPr>
          <p:nvPr/>
        </p:nvSpPr>
        <p:spPr>
          <a:xfrm>
            <a:off x="502920" y="164592"/>
            <a:ext cx="18288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 b="1">
                <a:solidFill>
                  <a:srgbClr val="E31B23"/>
                </a:solidFill>
                <a:latin typeface="Aptos"/>
                <a:ea typeface="Aptos"/>
                <a:cs typeface="Aptos"/>
              </a:rPr>
              <a:t>ÇÖZÜM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63331C-D36B-4F23-A82E-E22AC8B47EC3}"/>
              </a:ext>
            </a:extLst>
          </p:cNvPr>
          <p:cNvSpPr>
            <a:spLocks noGrp="1"/>
          </p:cNvSpPr>
          <p:nvPr/>
        </p:nvSpPr>
        <p:spPr>
          <a:xfrm>
            <a:off x="502920" y="49377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3263A"/>
                </a:solidFill>
                <a:latin typeface="Aptos Display"/>
                <a:ea typeface="Aptos Display"/>
                <a:cs typeface="Aptos Display"/>
              </a:rPr>
              <a:t>Mimari</a:t>
            </a:r>
            <a:endParaRPr sz="27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D925E3-D301-4845-82DD-A289F19C3FCF}"/>
              </a:ext>
            </a:extLst>
          </p:cNvPr>
          <p:cNvSpPr>
            <a:spLocks noGrp="1"/>
          </p:cNvSpPr>
          <p:nvPr/>
        </p:nvSpPr>
        <p:spPr>
          <a:xfrm>
            <a:off x="530352" y="107899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65758B"/>
                </a:solidFill>
                <a:latin typeface="Aptos"/>
                <a:ea typeface="Aptos"/>
                <a:cs typeface="Aptos"/>
              </a:rPr>
              <a:t>İki aşamalı akış ham kayıt ile member bazlı hesaplamayı birbirinden ayırır.</a:t>
            </a:r>
            <a:endParaRPr sz="11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343CBC7-6F7D-410E-AC13-8FCE43F11FAB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DBDACB-74E2-4ED5-A921-40674AACA8D2}"/>
              </a:ext>
            </a:extLst>
          </p:cNvPr>
          <p:cNvSpPr>
            <a:spLocks noGrp="1"/>
          </p:cNvSpPr>
          <p:nvPr/>
        </p:nvSpPr>
        <p:spPr>
          <a:xfrm>
            <a:off x="667512" y="2139696"/>
            <a:ext cx="1453896" cy="4297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Source Systems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DCS / Partner / CC</a:t>
            </a:r>
            <a:endParaRPr sz="11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5E3910D-6416-4467-99EF-3D4E23C52903}"/>
              </a:ext>
            </a:extLst>
          </p:cNvPr>
          <p:cNvSpPr>
            <a:spLocks noGrp="1"/>
          </p:cNvSpPr>
          <p:nvPr/>
        </p:nvSpPr>
        <p:spPr>
          <a:xfrm>
            <a:off x="2249424" y="2322576"/>
            <a:ext cx="420624" cy="0"/>
          </a:xfrm>
          <a:prstGeom prst="line">
            <a:avLst/>
          </a:prstGeom>
          <a:noFill/>
          <a:ln w="19050">
            <a:solidFill>
              <a:srgbClr val="2D5CAA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EBC2B5B-1E94-4473-8392-432C2FC6E0DF}"/>
              </a:ext>
            </a:extLst>
          </p:cNvPr>
          <p:cNvSpPr>
            <a:spLocks noGrp="1"/>
          </p:cNvSpPr>
          <p:nvPr/>
        </p:nvSpPr>
        <p:spPr>
          <a:xfrm>
            <a:off x="2724912" y="199339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8F1FF"/>
          </a:solidFill>
          <a:ln w="12700">
            <a:solidFill>
              <a:srgbClr val="2D5CAA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1F48BD-E5E5-45B3-AA24-6F361912517E}"/>
              </a:ext>
            </a:extLst>
          </p:cNvPr>
          <p:cNvSpPr>
            <a:spLocks noGrp="1"/>
          </p:cNvSpPr>
          <p:nvPr/>
        </p:nvSpPr>
        <p:spPr>
          <a:xfrm>
            <a:off x="2798064" y="2139696"/>
            <a:ext cx="1271016" cy="4297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Kafka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status-events</a:t>
            </a:r>
            <a:endParaRPr sz="11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5EE7A7C-37AA-48C3-B93C-BB668B272351}"/>
              </a:ext>
            </a:extLst>
          </p:cNvPr>
          <p:cNvSpPr>
            <a:spLocks noGrp="1"/>
          </p:cNvSpPr>
          <p:nvPr/>
        </p:nvSpPr>
        <p:spPr>
          <a:xfrm>
            <a:off x="4187952" y="2322576"/>
            <a:ext cx="420624" cy="0"/>
          </a:xfrm>
          <a:prstGeom prst="line">
            <a:avLst/>
          </a:prstGeom>
          <a:noFill/>
          <a:ln w="19050">
            <a:solidFill>
              <a:srgbClr val="2D5CAA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2B4B0B0-0F83-4325-A792-3CBD9972CA04}"/>
              </a:ext>
            </a:extLst>
          </p:cNvPr>
          <p:cNvSpPr>
            <a:spLocks noGrp="1"/>
          </p:cNvSpPr>
          <p:nvPr/>
        </p:nvSpPr>
        <p:spPr>
          <a:xfrm>
            <a:off x="4663440" y="199339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9298423-B592-4A65-BE1F-02D53DBB52AF}"/>
              </a:ext>
            </a:extLst>
          </p:cNvPr>
          <p:cNvSpPr>
            <a:spLocks noGrp="1"/>
          </p:cNvSpPr>
          <p:nvPr/>
        </p:nvSpPr>
        <p:spPr>
          <a:xfrm>
            <a:off x="4736592" y="2139696"/>
            <a:ext cx="1271016" cy="4297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Ingestion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Consumer</a:t>
            </a:r>
            <a:endParaRPr sz="11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FFCC13C-570B-425E-8CEF-B35CA09EC3A8}"/>
              </a:ext>
            </a:extLst>
          </p:cNvPr>
          <p:cNvSpPr>
            <a:spLocks noGrp="1"/>
          </p:cNvSpPr>
          <p:nvPr/>
        </p:nvSpPr>
        <p:spPr>
          <a:xfrm>
            <a:off x="6126480" y="2322576"/>
            <a:ext cx="420624" cy="0"/>
          </a:xfrm>
          <a:prstGeom prst="line">
            <a:avLst/>
          </a:prstGeom>
          <a:noFill/>
          <a:ln w="19050">
            <a:solidFill>
              <a:srgbClr val="2D5CAA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6A5AC79-EB55-4413-B188-92EFC5DD7D56}"/>
              </a:ext>
            </a:extLst>
          </p:cNvPr>
          <p:cNvSpPr>
            <a:spLocks noGrp="1"/>
          </p:cNvSpPr>
          <p:nvPr/>
        </p:nvSpPr>
        <p:spPr>
          <a:xfrm>
            <a:off x="6601968" y="199339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9F7F1"/>
          </a:solidFill>
          <a:ln w="12700">
            <a:solidFill>
              <a:srgbClr val="0D7F5B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17E852-C987-4DE2-8C94-1BF45E840FF7}"/>
              </a:ext>
            </a:extLst>
          </p:cNvPr>
          <p:cNvSpPr>
            <a:spLocks noGrp="1"/>
          </p:cNvSpPr>
          <p:nvPr/>
        </p:nvSpPr>
        <p:spPr>
          <a:xfrm>
            <a:off x="6675120" y="2139696"/>
            <a:ext cx="1271016" cy="4297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App DB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raw + outbox</a:t>
            </a:r>
            <a:endParaRPr sz="11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3630AE7-816F-4D85-8DF5-D2A60DF374E8}"/>
              </a:ext>
            </a:extLst>
          </p:cNvPr>
          <p:cNvSpPr>
            <a:spLocks noGrp="1"/>
          </p:cNvSpPr>
          <p:nvPr/>
        </p:nvSpPr>
        <p:spPr>
          <a:xfrm>
            <a:off x="8065008" y="2322576"/>
            <a:ext cx="420624" cy="0"/>
          </a:xfrm>
          <a:prstGeom prst="line">
            <a:avLst/>
          </a:prstGeom>
          <a:noFill/>
          <a:ln w="19050">
            <a:solidFill>
              <a:srgbClr val="2D5CAA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4390CF7-8FD5-4017-B596-4E7184A5BBD4}"/>
              </a:ext>
            </a:extLst>
          </p:cNvPr>
          <p:cNvSpPr>
            <a:spLocks noGrp="1"/>
          </p:cNvSpPr>
          <p:nvPr/>
        </p:nvSpPr>
        <p:spPr>
          <a:xfrm>
            <a:off x="8540496" y="199339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8F1FF"/>
          </a:solidFill>
          <a:ln w="12700">
            <a:solidFill>
              <a:srgbClr val="2D5CA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385707-2C75-4B5F-AE17-193679A44EA5}"/>
              </a:ext>
            </a:extLst>
          </p:cNvPr>
          <p:cNvSpPr>
            <a:spLocks noGrp="1"/>
          </p:cNvSpPr>
          <p:nvPr/>
        </p:nvSpPr>
        <p:spPr>
          <a:xfrm>
            <a:off x="8613648" y="2139696"/>
            <a:ext cx="1271016" cy="4297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Kafka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member-events</a:t>
            </a:r>
            <a:endParaRPr sz="115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7EFEABB-1CA9-4158-BDBE-ADB8C36DD50F}"/>
              </a:ext>
            </a:extLst>
          </p:cNvPr>
          <p:cNvSpPr>
            <a:spLocks noGrp="1"/>
          </p:cNvSpPr>
          <p:nvPr/>
        </p:nvSpPr>
        <p:spPr>
          <a:xfrm>
            <a:off x="10003536" y="2322576"/>
            <a:ext cx="420624" cy="0"/>
          </a:xfrm>
          <a:prstGeom prst="line">
            <a:avLst/>
          </a:prstGeom>
          <a:noFill/>
          <a:ln w="19050">
            <a:solidFill>
              <a:srgbClr val="2D5CAA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177EE24-99EE-44CD-B770-B5090AE656A9}"/>
              </a:ext>
            </a:extLst>
          </p:cNvPr>
          <p:cNvSpPr>
            <a:spLocks noGrp="1"/>
          </p:cNvSpPr>
          <p:nvPr/>
        </p:nvSpPr>
        <p:spPr>
          <a:xfrm>
            <a:off x="10479024" y="1993392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D5BED21-B753-401B-B2F4-AFB75A3D41F8}"/>
              </a:ext>
            </a:extLst>
          </p:cNvPr>
          <p:cNvSpPr>
            <a:spLocks noGrp="1"/>
          </p:cNvSpPr>
          <p:nvPr/>
        </p:nvSpPr>
        <p:spPr>
          <a:xfrm>
            <a:off x="10552176" y="2139696"/>
            <a:ext cx="1088136" cy="4297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Tier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Processor</a:t>
            </a:r>
            <a:endParaRPr sz="11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34B5024-2454-4F7A-A33C-8174B3AD265A}"/>
              </a:ext>
            </a:extLst>
          </p:cNvPr>
          <p:cNvSpPr>
            <a:spLocks noGrp="1"/>
          </p:cNvSpPr>
          <p:nvPr/>
        </p:nvSpPr>
        <p:spPr>
          <a:xfrm>
            <a:off x="10844784" y="2651760"/>
            <a:ext cx="0" cy="914400"/>
          </a:xfrm>
          <a:prstGeom prst="line">
            <a:avLst/>
          </a:prstGeom>
          <a:noFill/>
          <a:ln w="15240">
            <a:solidFill>
              <a:srgbClr val="2D5CAA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1933B43-64B1-46FA-AA46-8B7B22B84D24}"/>
              </a:ext>
            </a:extLst>
          </p:cNvPr>
          <p:cNvSpPr>
            <a:spLocks noGrp="1"/>
          </p:cNvSpPr>
          <p:nvPr/>
        </p:nvSpPr>
        <p:spPr>
          <a:xfrm>
            <a:off x="9829800" y="37033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E9F7F1"/>
          </a:solidFill>
          <a:ln w="12700">
            <a:solidFill>
              <a:srgbClr val="0D7F5B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F0B4F96-C951-44AE-AE7B-2DF51DC66423}"/>
              </a:ext>
            </a:extLst>
          </p:cNvPr>
          <p:cNvSpPr>
            <a:spLocks noGrp="1"/>
          </p:cNvSpPr>
          <p:nvPr/>
        </p:nvSpPr>
        <p:spPr>
          <a:xfrm>
            <a:off x="9902952" y="3849624"/>
            <a:ext cx="1773936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Current State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ledger + tier + history</a:t>
            </a:r>
            <a:endParaRPr sz="115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873217C-1CC4-4FB8-818C-F8D55719005D}"/>
              </a:ext>
            </a:extLst>
          </p:cNvPr>
          <p:cNvSpPr>
            <a:spLocks noGrp="1"/>
          </p:cNvSpPr>
          <p:nvPr/>
        </p:nvSpPr>
        <p:spPr>
          <a:xfrm>
            <a:off x="9784080" y="4069080"/>
            <a:ext cx="0" cy="0"/>
          </a:xfrm>
          <a:prstGeom prst="line">
            <a:avLst/>
          </a:prstGeom>
          <a:noFill/>
          <a:ln w="15240">
            <a:solidFill>
              <a:srgbClr val="2D5CAA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DA3E8DF-33D6-4519-9EC0-51222EBFB6CF}"/>
              </a:ext>
            </a:extLst>
          </p:cNvPr>
          <p:cNvSpPr>
            <a:spLocks noGrp="1"/>
          </p:cNvSpPr>
          <p:nvPr/>
        </p:nvSpPr>
        <p:spPr>
          <a:xfrm>
            <a:off x="4339101" y="3611879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94B9577-584E-48B2-B4CB-36EDA01D0F90}"/>
              </a:ext>
            </a:extLst>
          </p:cNvPr>
          <p:cNvSpPr>
            <a:spLocks noGrp="1"/>
          </p:cNvSpPr>
          <p:nvPr/>
        </p:nvSpPr>
        <p:spPr>
          <a:xfrm>
            <a:off x="6473952" y="3849624"/>
            <a:ext cx="1545336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Query API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status + audit</a:t>
            </a:r>
            <a:endParaRPr sz="11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7D68155-0BDD-4AD1-A91C-E0B80C034008}"/>
              </a:ext>
            </a:extLst>
          </p:cNvPr>
          <p:cNvSpPr>
            <a:spLocks noGrp="1"/>
          </p:cNvSpPr>
          <p:nvPr/>
        </p:nvSpPr>
        <p:spPr>
          <a:xfrm>
            <a:off x="4480560" y="3657600"/>
            <a:ext cx="1645920" cy="502920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100" b="1">
                <a:solidFill>
                  <a:srgbClr val="13263A"/>
                </a:solidFill>
              </a:rPr>
              <a:t>Reference schema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13263A"/>
                </a:solidFill>
              </a:rPr>
              <a:t>rate + ruleVersion</a:t>
            </a:r>
            <a:endParaRPr sz="11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3DCF647-6111-4434-A94F-3349AED6B881}"/>
              </a:ext>
            </a:extLst>
          </p:cNvPr>
          <p:cNvSpPr>
            <a:spLocks noGrp="1"/>
          </p:cNvSpPr>
          <p:nvPr/>
        </p:nvSpPr>
        <p:spPr>
          <a:xfrm>
            <a:off x="6080760" y="3913632"/>
            <a:ext cx="370332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354F903-2A9A-49DC-92C6-17D0EB9E4002}"/>
              </a:ext>
            </a:extLst>
          </p:cNvPr>
          <p:cNvSpPr>
            <a:spLocks noGrp="1"/>
          </p:cNvSpPr>
          <p:nvPr/>
        </p:nvSpPr>
        <p:spPr>
          <a:xfrm>
            <a:off x="1234440" y="160020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E31B23"/>
                </a:solidFill>
              </a:rPr>
              <a:t>1  Capture</a:t>
            </a:r>
            <a:endParaRPr sz="85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A0D61A1-BF0F-4965-8066-0F0E43219307}"/>
              </a:ext>
            </a:extLst>
          </p:cNvPr>
          <p:cNvSpPr>
            <a:spLocks noGrp="1"/>
          </p:cNvSpPr>
          <p:nvPr/>
        </p:nvSpPr>
        <p:spPr>
          <a:xfrm>
            <a:off x="8156448" y="16002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E31B23"/>
                </a:solidFill>
              </a:rPr>
              <a:t>2  Re-key by memberId</a:t>
            </a:r>
            <a:endParaRPr sz="85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29E99C1-EA3D-47DD-A2F4-804CD71E65D9}"/>
              </a:ext>
            </a:extLst>
          </p:cNvPr>
          <p:cNvSpPr>
            <a:spLocks noGrp="1"/>
          </p:cNvSpPr>
          <p:nvPr/>
        </p:nvSpPr>
        <p:spPr>
          <a:xfrm>
            <a:off x="640080" y="5870448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3263A"/>
          </a:solidFill>
          <a:ln w="12700">
            <a:solidFill>
              <a:srgbClr val="13263A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305FCC5-7429-4912-93F6-33ABF34C1894}"/>
              </a:ext>
            </a:extLst>
          </p:cNvPr>
          <p:cNvSpPr>
            <a:spLocks noGrp="1"/>
          </p:cNvSpPr>
          <p:nvPr/>
        </p:nvSpPr>
        <p:spPr>
          <a:xfrm>
            <a:off x="868680" y="6007608"/>
            <a:ext cx="1045159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551" lnSpcReduction="10000"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memberId key ile aynı üyeye ait hesaplamalar tek partition üzerinden işlenir.</a:t>
            </a:r>
            <a:endParaRPr sz="1150"/>
          </a:p>
        </p:txBody>
      </p:sp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575D9D71-D1F9-479E-A379-8717B6B3797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207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971DE6-D3FC-4B56-8401-476EB6CECF10}"/>
              </a:ext>
            </a:extLst>
          </p:cNvPr>
          <p:cNvSpPr>
            <a:spLocks noGrp="1"/>
          </p:cNvSpPr>
          <p:nvPr/>
        </p:nvSpPr>
        <p:spPr>
          <a:xfrm>
            <a:off x="502920" y="164592"/>
            <a:ext cx="18288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 b="1">
                <a:solidFill>
                  <a:srgbClr val="E31B23"/>
                </a:solidFill>
                <a:latin typeface="Aptos"/>
                <a:ea typeface="Aptos"/>
                <a:cs typeface="Aptos"/>
              </a:rPr>
              <a:t>DAYANIKLILIK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89A118-B989-4A7A-A954-918D0DA0F571}"/>
              </a:ext>
            </a:extLst>
          </p:cNvPr>
          <p:cNvSpPr>
            <a:spLocks noGrp="1"/>
          </p:cNvSpPr>
          <p:nvPr/>
        </p:nvSpPr>
        <p:spPr>
          <a:xfrm>
            <a:off x="502920" y="49377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3263A"/>
                </a:solidFill>
                <a:latin typeface="Aptos Display"/>
                <a:ea typeface="Aptos Display"/>
                <a:cs typeface="Aptos Display"/>
              </a:rPr>
              <a:t>Hata ve düzeltme yaklaşımı</a:t>
            </a:r>
            <a:endParaRPr sz="27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AC9004-0985-4270-8DCF-0A8E65755E81}"/>
              </a:ext>
            </a:extLst>
          </p:cNvPr>
          <p:cNvSpPr>
            <a:spLocks noGrp="1"/>
          </p:cNvSpPr>
          <p:nvPr/>
        </p:nvSpPr>
        <p:spPr>
          <a:xfrm>
            <a:off x="530352" y="107899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65758B"/>
                </a:solidFill>
                <a:latin typeface="Aptos"/>
                <a:ea typeface="Aptos"/>
                <a:cs typeface="Aptos"/>
              </a:rPr>
              <a:t>Kötü veya gecikmiş mesajın statü hesabını sessizce bozmasına izin vermiyoruz.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1A3835-7BB3-40A2-BF1A-D9A9F191D47A}"/>
              </a:ext>
            </a:extLst>
          </p:cNvPr>
          <p:cNvSpPr>
            <a:spLocks noGrp="1"/>
          </p:cNvSpPr>
          <p:nvPr/>
        </p:nvSpPr>
        <p:spPr>
          <a:xfrm>
            <a:off x="777240" y="16276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0D7F5B"/>
                </a:solidFill>
              </a:rPr>
              <a:t>01</a:t>
            </a:r>
            <a:endParaRPr sz="17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B13F978-DDBC-4990-9996-6FD7899D32B0}"/>
              </a:ext>
            </a:extLst>
          </p:cNvPr>
          <p:cNvSpPr>
            <a:spLocks noGrp="1"/>
          </p:cNvSpPr>
          <p:nvPr/>
        </p:nvSpPr>
        <p:spPr>
          <a:xfrm>
            <a:off x="1463040" y="16002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3263A"/>
                </a:solidFill>
              </a:rPr>
              <a:t>Invalid event</a:t>
            </a:r>
            <a:endParaRPr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83BEBE-B491-4363-9A90-C89694DDB8D4}"/>
              </a:ext>
            </a:extLst>
          </p:cNvPr>
          <p:cNvSpPr>
            <a:spLocks noGrp="1"/>
          </p:cNvSpPr>
          <p:nvPr/>
        </p:nvSpPr>
        <p:spPr>
          <a:xfrm>
            <a:off x="4617720" y="1636776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>
                <a:solidFill>
                  <a:srgbClr val="24364B"/>
                </a:solidFill>
              </a:rPr>
              <a:t>Ham kayıt INVALID olarak saklanır; hata bilgisi DLT’ye bildirilir.</a:t>
            </a:r>
            <a:endParaRPr sz="14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F40944E-B006-470C-B1CC-3B680A5CD38A}"/>
              </a:ext>
            </a:extLst>
          </p:cNvPr>
          <p:cNvSpPr>
            <a:spLocks noGrp="1"/>
          </p:cNvSpPr>
          <p:nvPr/>
        </p:nvSpPr>
        <p:spPr>
          <a:xfrm>
            <a:off x="1417320" y="2313432"/>
            <a:ext cx="987552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EB9E23-658E-4C22-9C2D-BCC868B90FDA}"/>
              </a:ext>
            </a:extLst>
          </p:cNvPr>
          <p:cNvSpPr>
            <a:spLocks noGrp="1"/>
          </p:cNvSpPr>
          <p:nvPr/>
        </p:nvSpPr>
        <p:spPr>
          <a:xfrm>
            <a:off x="777240" y="267919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2D5CAA"/>
                </a:solidFill>
              </a:rPr>
              <a:t>02</a:t>
            </a:r>
            <a:endParaRPr sz="17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E0C0925-9EE9-40B8-9A33-3D4AD84D1E16}"/>
              </a:ext>
            </a:extLst>
          </p:cNvPr>
          <p:cNvSpPr>
            <a:spLocks noGrp="1"/>
          </p:cNvSpPr>
          <p:nvPr/>
        </p:nvSpPr>
        <p:spPr>
          <a:xfrm>
            <a:off x="1463040" y="26517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3263A"/>
                </a:solidFill>
              </a:rPr>
              <a:t>Geçici işleme hatası</a:t>
            </a:r>
            <a:endParaRPr sz="17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10AE79F-C01F-4FE6-83CF-78BCADF8C2F3}"/>
              </a:ext>
            </a:extLst>
          </p:cNvPr>
          <p:cNvSpPr>
            <a:spLocks noGrp="1"/>
          </p:cNvSpPr>
          <p:nvPr/>
        </p:nvSpPr>
        <p:spPr>
          <a:xfrm>
            <a:off x="4617720" y="2688336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>
                <a:solidFill>
                  <a:srgbClr val="24364B"/>
                </a:solidFill>
              </a:rPr>
              <a:t>Retry + exponential backoff uygulanır; sorun sürerse DLT’ye gider.</a:t>
            </a:r>
            <a:endParaRPr sz="14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A74B54-4D26-4959-ADBB-5C58EEAA66A1}"/>
              </a:ext>
            </a:extLst>
          </p:cNvPr>
          <p:cNvSpPr>
            <a:spLocks noGrp="1"/>
          </p:cNvSpPr>
          <p:nvPr/>
        </p:nvSpPr>
        <p:spPr>
          <a:xfrm>
            <a:off x="1417320" y="3364992"/>
            <a:ext cx="987552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18002B6-EFF5-4DCA-B499-611E014D3AE5}"/>
              </a:ext>
            </a:extLst>
          </p:cNvPr>
          <p:cNvSpPr>
            <a:spLocks noGrp="1"/>
          </p:cNvSpPr>
          <p:nvPr/>
        </p:nvSpPr>
        <p:spPr>
          <a:xfrm>
            <a:off x="777240" y="37307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E31B23"/>
                </a:solidFill>
              </a:rPr>
              <a:t>03</a:t>
            </a:r>
            <a:endParaRPr sz="17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A116567-B3FB-4CE8-943E-1A93A16D7F79}"/>
              </a:ext>
            </a:extLst>
          </p:cNvPr>
          <p:cNvSpPr>
            <a:spLocks noGrp="1"/>
          </p:cNvSpPr>
          <p:nvPr/>
        </p:nvSpPr>
        <p:spPr>
          <a:xfrm>
            <a:off x="1463040" y="37033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3263A"/>
                </a:solidFill>
              </a:rPr>
              <a:t>Referans veri sorunu</a:t>
            </a:r>
            <a:endParaRPr sz="17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5E8A9C-2725-49D1-B41F-448CEE820D19}"/>
              </a:ext>
            </a:extLst>
          </p:cNvPr>
          <p:cNvSpPr>
            <a:spLocks noGrp="1"/>
          </p:cNvSpPr>
          <p:nvPr/>
        </p:nvSpPr>
        <p:spPr>
          <a:xfrm>
            <a:off x="4617720" y="3739896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>
                <a:solidFill>
                  <a:srgbClr val="24364B"/>
                </a:solidFill>
              </a:rPr>
              <a:t>Eksik oran için retry/DLT var; circuit breaker üretim önerisi.</a:t>
            </a:r>
            <a:endParaRPr sz="14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46C2ED9-7778-46F6-A310-5318D205A401}"/>
              </a:ext>
            </a:extLst>
          </p:cNvPr>
          <p:cNvSpPr>
            <a:spLocks noGrp="1"/>
          </p:cNvSpPr>
          <p:nvPr/>
        </p:nvSpPr>
        <p:spPr>
          <a:xfrm>
            <a:off x="1417320" y="4416552"/>
            <a:ext cx="987552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99B7CF3-AF8B-4BB6-9FB6-8B1809F0356B}"/>
              </a:ext>
            </a:extLst>
          </p:cNvPr>
          <p:cNvSpPr>
            <a:spLocks noGrp="1"/>
          </p:cNvSpPr>
          <p:nvPr/>
        </p:nvSpPr>
        <p:spPr>
          <a:xfrm>
            <a:off x="777240" y="478231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7251B5"/>
                </a:solidFill>
              </a:rPr>
              <a:t>04</a:t>
            </a:r>
            <a:endParaRPr sz="17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AED1A41-981B-40AE-B4D1-88F40AA7E623}"/>
              </a:ext>
            </a:extLst>
          </p:cNvPr>
          <p:cNvSpPr>
            <a:spLocks noGrp="1"/>
          </p:cNvSpPr>
          <p:nvPr/>
        </p:nvSpPr>
        <p:spPr>
          <a:xfrm>
            <a:off x="1463040" y="475488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3263A"/>
                </a:solidFill>
              </a:rPr>
              <a:t>Hatalı kural / oran</a:t>
            </a:r>
            <a:endParaRPr sz="17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C64C28F-AC0E-4CB1-A17C-27491B7492C2}"/>
              </a:ext>
            </a:extLst>
          </p:cNvPr>
          <p:cNvSpPr>
            <a:spLocks noGrp="1"/>
          </p:cNvSpPr>
          <p:nvPr/>
        </p:nvSpPr>
        <p:spPr>
          <a:xfrm>
            <a:off x="4617720" y="4791456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>
                <a:solidFill>
                  <a:srgbClr val="24364B"/>
                </a:solidFill>
              </a:rPr>
              <a:t>Ham kayıttan kontrollü replay ve telafi yayını üretim önerisi.</a:t>
            </a:r>
            <a:endParaRPr sz="14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47BF079-73CB-4102-BE02-FBBC960A029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27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2CC9E8-0EB3-4CB1-A35C-59ABE577D52F}"/>
              </a:ext>
            </a:extLst>
          </p:cNvPr>
          <p:cNvSpPr>
            <a:spLocks noGrp="1"/>
          </p:cNvSpPr>
          <p:nvPr/>
        </p:nvSpPr>
        <p:spPr>
          <a:xfrm>
            <a:off x="502920" y="164592"/>
            <a:ext cx="18288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 b="1">
                <a:solidFill>
                  <a:srgbClr val="E31B23"/>
                </a:solidFill>
                <a:latin typeface="Aptos"/>
                <a:ea typeface="Aptos"/>
                <a:cs typeface="Aptos"/>
              </a:rPr>
              <a:t>GÜVENİLİRLİK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499A9C-1726-4B2E-A598-E09ADED35F78}"/>
              </a:ext>
            </a:extLst>
          </p:cNvPr>
          <p:cNvSpPr>
            <a:spLocks noGrp="1"/>
          </p:cNvSpPr>
          <p:nvPr/>
        </p:nvSpPr>
        <p:spPr>
          <a:xfrm>
            <a:off x="502920" y="49377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3263A"/>
                </a:solidFill>
                <a:latin typeface="Aptos Display"/>
                <a:ea typeface="Aptos Display"/>
                <a:cs typeface="Aptos Display"/>
              </a:rPr>
              <a:t>Tutarlılık ve tekrar işleme</a:t>
            </a:r>
            <a:endParaRPr sz="27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1645B6-E91A-45B5-AAA5-3BF71DF7F818}"/>
              </a:ext>
            </a:extLst>
          </p:cNvPr>
          <p:cNvSpPr>
            <a:spLocks noGrp="1"/>
          </p:cNvSpPr>
          <p:nvPr/>
        </p:nvSpPr>
        <p:spPr>
          <a:xfrm>
            <a:off x="530352" y="107899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65758B"/>
                </a:solidFill>
                <a:latin typeface="Aptos"/>
                <a:ea typeface="Aptos"/>
                <a:cs typeface="Aptos"/>
              </a:rPr>
              <a:t>Kafka tekrar teslim edebilir; iş etkisini DB transaction ve benzersiz kayıtlarla tekilleştiririz.</a:t>
            </a:r>
            <a:endParaRPr sz="11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B47ACE7-121D-4AD7-B567-AFCE90828CCC}"/>
              </a:ext>
            </a:extLst>
          </p:cNvPr>
          <p:cNvSpPr>
            <a:spLocks noGrp="1"/>
          </p:cNvSpPr>
          <p:nvPr/>
        </p:nvSpPr>
        <p:spPr>
          <a:xfrm>
            <a:off x="594360" y="1600200"/>
            <a:ext cx="3154680" cy="35204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0E297F7-4EDD-48F2-B7C7-5D7A32E43B21}"/>
              </a:ext>
            </a:extLst>
          </p:cNvPr>
          <p:cNvSpPr>
            <a:spLocks noGrp="1"/>
          </p:cNvSpPr>
          <p:nvPr/>
        </p:nvSpPr>
        <p:spPr>
          <a:xfrm>
            <a:off x="594360" y="1600200"/>
            <a:ext cx="3154680" cy="73152"/>
          </a:xfrm>
          <a:prstGeom prst="rect">
            <a:avLst/>
          </a:prstGeom>
          <a:solidFill>
            <a:srgbClr val="0D7F5B"/>
          </a:solidFill>
          <a:ln w="12700">
            <a:solidFill>
              <a:srgbClr val="0D7F5B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38270E-751E-4815-BFE5-2089745DBE3D}"/>
              </a:ext>
            </a:extLst>
          </p:cNvPr>
          <p:cNvSpPr>
            <a:spLocks noGrp="1"/>
          </p:cNvSpPr>
          <p:nvPr/>
        </p:nvSpPr>
        <p:spPr>
          <a:xfrm>
            <a:off x="795528" y="1920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3263A"/>
                </a:solidFill>
              </a:rPr>
              <a:t>Idempotency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B2D0671-9F62-4B89-A158-48839E21591B}"/>
              </a:ext>
            </a:extLst>
          </p:cNvPr>
          <p:cNvSpPr>
            <a:spLocks noGrp="1"/>
          </p:cNvSpPr>
          <p:nvPr/>
        </p:nvSpPr>
        <p:spPr>
          <a:xfrm>
            <a:off x="850392" y="2606040"/>
            <a:ext cx="64008" cy="64008"/>
          </a:xfrm>
          <a:prstGeom prst="ellipse">
            <a:avLst/>
          </a:prstGeom>
          <a:solidFill>
            <a:srgbClr val="0D7F5B"/>
          </a:solidFill>
          <a:ln w="12700">
            <a:solidFill>
              <a:srgbClr val="0D7F5B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1F0094E-91B2-4428-977A-5D42F7F02334}"/>
              </a:ext>
            </a:extLst>
          </p:cNvPr>
          <p:cNvSpPr>
            <a:spLocks noGrp="1"/>
          </p:cNvSpPr>
          <p:nvPr/>
        </p:nvSpPr>
        <p:spPr>
          <a:xfrm>
            <a:off x="1033272" y="2532888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raw_event.event_id UNIQUE</a:t>
            </a:r>
            <a:endParaRPr sz="106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8E98326-C89C-4A9C-BDE1-DCAF0EAF645F}"/>
              </a:ext>
            </a:extLst>
          </p:cNvPr>
          <p:cNvSpPr>
            <a:spLocks noGrp="1"/>
          </p:cNvSpPr>
          <p:nvPr/>
        </p:nvSpPr>
        <p:spPr>
          <a:xfrm>
            <a:off x="850392" y="3172968"/>
            <a:ext cx="64008" cy="64008"/>
          </a:xfrm>
          <a:prstGeom prst="ellipse">
            <a:avLst/>
          </a:prstGeom>
          <a:solidFill>
            <a:srgbClr val="0D7F5B"/>
          </a:solidFill>
          <a:ln w="12700">
            <a:solidFill>
              <a:srgbClr val="0D7F5B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2A9C53-4043-46D0-8C0D-7978B6EFA90D}"/>
              </a:ext>
            </a:extLst>
          </p:cNvPr>
          <p:cNvSpPr>
            <a:spLocks noGrp="1"/>
          </p:cNvSpPr>
          <p:nvPr/>
        </p:nvSpPr>
        <p:spPr>
          <a:xfrm>
            <a:off x="1033272" y="3099816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ledger.source_event_id UNIQUE</a:t>
            </a:r>
            <a:endParaRPr sz="106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CE0CA5D-7A22-4555-BB5D-BC2D5D089588}"/>
              </a:ext>
            </a:extLst>
          </p:cNvPr>
          <p:cNvSpPr>
            <a:spLocks noGrp="1"/>
          </p:cNvSpPr>
          <p:nvPr/>
        </p:nvSpPr>
        <p:spPr>
          <a:xfrm>
            <a:off x="850392" y="3739896"/>
            <a:ext cx="64008" cy="64008"/>
          </a:xfrm>
          <a:prstGeom prst="ellipse">
            <a:avLst/>
          </a:prstGeom>
          <a:solidFill>
            <a:srgbClr val="0D7F5B"/>
          </a:solidFill>
          <a:ln w="12700">
            <a:solidFill>
              <a:srgbClr val="0D7F5B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C9DD0BD-9932-47B5-A982-1731DC077410}"/>
              </a:ext>
            </a:extLst>
          </p:cNvPr>
          <p:cNvSpPr>
            <a:spLocks noGrp="1"/>
          </p:cNvSpPr>
          <p:nvPr/>
        </p:nvSpPr>
        <p:spPr>
          <a:xfrm>
            <a:off x="1033272" y="3666744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decision_key UNIQUE</a:t>
            </a:r>
            <a:endParaRPr sz="106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7A3D5C2-64E6-47F0-93E7-F69AAA5C1D46}"/>
              </a:ext>
            </a:extLst>
          </p:cNvPr>
          <p:cNvSpPr>
            <a:spLocks noGrp="1"/>
          </p:cNvSpPr>
          <p:nvPr/>
        </p:nvSpPr>
        <p:spPr>
          <a:xfrm>
            <a:off x="850392" y="4306824"/>
            <a:ext cx="64008" cy="64008"/>
          </a:xfrm>
          <a:prstGeom prst="ellipse">
            <a:avLst/>
          </a:prstGeom>
          <a:solidFill>
            <a:srgbClr val="0D7F5B"/>
          </a:solidFill>
          <a:ln w="12700">
            <a:solidFill>
              <a:srgbClr val="0D7F5B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1A3581-02BE-415E-8577-A9140D1629F8}"/>
              </a:ext>
            </a:extLst>
          </p:cNvPr>
          <p:cNvSpPr>
            <a:spLocks noGrp="1"/>
          </p:cNvSpPr>
          <p:nvPr/>
        </p:nvSpPr>
        <p:spPr>
          <a:xfrm>
            <a:off x="1033272" y="4233672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farklı payload → DLT</a:t>
            </a:r>
            <a:endParaRPr sz="106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3982EE8-3A7E-4674-91C8-27FC74A02880}"/>
              </a:ext>
            </a:extLst>
          </p:cNvPr>
          <p:cNvSpPr>
            <a:spLocks noGrp="1"/>
          </p:cNvSpPr>
          <p:nvPr/>
        </p:nvSpPr>
        <p:spPr>
          <a:xfrm>
            <a:off x="4389120" y="1600200"/>
            <a:ext cx="3154680" cy="35204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894F98B-D154-46E1-8238-3E016F32BF5A}"/>
              </a:ext>
            </a:extLst>
          </p:cNvPr>
          <p:cNvSpPr>
            <a:spLocks noGrp="1"/>
          </p:cNvSpPr>
          <p:nvPr/>
        </p:nvSpPr>
        <p:spPr>
          <a:xfrm>
            <a:off x="4389120" y="1600200"/>
            <a:ext cx="3154680" cy="73152"/>
          </a:xfrm>
          <a:prstGeom prst="rect">
            <a:avLst/>
          </a:prstGeom>
          <a:solidFill>
            <a:srgbClr val="2D5CAA"/>
          </a:solidFill>
          <a:ln w="12700">
            <a:solidFill>
              <a:srgbClr val="2D5CA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86F985F-968F-4899-A1AF-D84DBE8D5CAD}"/>
              </a:ext>
            </a:extLst>
          </p:cNvPr>
          <p:cNvSpPr>
            <a:spLocks noGrp="1"/>
          </p:cNvSpPr>
          <p:nvPr/>
        </p:nvSpPr>
        <p:spPr>
          <a:xfrm>
            <a:off x="4590288" y="1920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3263A"/>
                </a:solidFill>
              </a:rPr>
              <a:t>Per-Member Ordering</a:t>
            </a:r>
            <a:endParaRPr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AC072D3-0C77-4624-ADE5-94B19DFDF7CF}"/>
              </a:ext>
            </a:extLst>
          </p:cNvPr>
          <p:cNvSpPr>
            <a:spLocks noGrp="1"/>
          </p:cNvSpPr>
          <p:nvPr/>
        </p:nvSpPr>
        <p:spPr>
          <a:xfrm>
            <a:off x="4645152" y="2606040"/>
            <a:ext cx="64008" cy="64008"/>
          </a:xfrm>
          <a:prstGeom prst="ellipse">
            <a:avLst/>
          </a:prstGeom>
          <a:solidFill>
            <a:srgbClr val="2D5CAA"/>
          </a:solidFill>
          <a:ln w="12700">
            <a:solidFill>
              <a:srgbClr val="2D5CAA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F917EC0-B6A9-4F34-A552-F39AB8166F81}"/>
              </a:ext>
            </a:extLst>
          </p:cNvPr>
          <p:cNvSpPr>
            <a:spLocks noGrp="1"/>
          </p:cNvSpPr>
          <p:nvPr/>
        </p:nvSpPr>
        <p:spPr>
          <a:xfrm>
            <a:off x="4828032" y="2532888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internal topic key = memberId</a:t>
            </a:r>
            <a:endParaRPr sz="106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AE1236F-DEA7-4341-959F-4E65BE599B19}"/>
              </a:ext>
            </a:extLst>
          </p:cNvPr>
          <p:cNvSpPr>
            <a:spLocks noGrp="1"/>
          </p:cNvSpPr>
          <p:nvPr/>
        </p:nvSpPr>
        <p:spPr>
          <a:xfrm>
            <a:off x="4645152" y="3172968"/>
            <a:ext cx="64008" cy="64008"/>
          </a:xfrm>
          <a:prstGeom prst="ellipse">
            <a:avLst/>
          </a:prstGeom>
          <a:solidFill>
            <a:srgbClr val="2D5CAA"/>
          </a:solidFill>
          <a:ln w="12700">
            <a:solidFill>
              <a:srgbClr val="2D5CAA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903FB3-A4D3-4A86-AF0A-7A80ED8A7BFF}"/>
              </a:ext>
            </a:extLst>
          </p:cNvPr>
          <p:cNvSpPr>
            <a:spLocks noGrp="1"/>
          </p:cNvSpPr>
          <p:nvPr/>
        </p:nvSpPr>
        <p:spPr>
          <a:xfrm>
            <a:off x="4828032" y="3099816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aynı üyede partition sırası</a:t>
            </a:r>
            <a:endParaRPr sz="106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6939388-528C-47CB-A5AA-20E8F4EB2888}"/>
              </a:ext>
            </a:extLst>
          </p:cNvPr>
          <p:cNvSpPr>
            <a:spLocks noGrp="1"/>
          </p:cNvSpPr>
          <p:nvPr/>
        </p:nvSpPr>
        <p:spPr>
          <a:xfrm>
            <a:off x="4645152" y="3739896"/>
            <a:ext cx="64008" cy="64008"/>
          </a:xfrm>
          <a:prstGeom prst="ellipse">
            <a:avLst/>
          </a:prstGeom>
          <a:solidFill>
            <a:srgbClr val="2D5CAA"/>
          </a:solidFill>
          <a:ln w="12700">
            <a:solidFill>
              <a:srgbClr val="2D5CA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D2D24B2-7BA1-4DD9-AAE9-F6DFF723A7EF}"/>
              </a:ext>
            </a:extLst>
          </p:cNvPr>
          <p:cNvSpPr>
            <a:spLocks noGrp="1"/>
          </p:cNvSpPr>
          <p:nvPr/>
        </p:nvSpPr>
        <p:spPr>
          <a:xfrm>
            <a:off x="4828032" y="3666744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consumer group ile horizontal scaling</a:t>
            </a:r>
            <a:endParaRPr sz="106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2C94DDC-A44E-48A5-9440-29C0E7C0B15F}"/>
              </a:ext>
            </a:extLst>
          </p:cNvPr>
          <p:cNvSpPr>
            <a:spLocks noGrp="1"/>
          </p:cNvSpPr>
          <p:nvPr/>
        </p:nvSpPr>
        <p:spPr>
          <a:xfrm>
            <a:off x="4645152" y="4306824"/>
            <a:ext cx="64008" cy="64008"/>
          </a:xfrm>
          <a:prstGeom prst="ellipse">
            <a:avLst/>
          </a:prstGeom>
          <a:solidFill>
            <a:srgbClr val="2D5CAA"/>
          </a:solidFill>
          <a:ln w="12700">
            <a:solidFill>
              <a:srgbClr val="2D5CAA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F187085-AD1A-4726-A696-F469B4787D9F}"/>
              </a:ext>
            </a:extLst>
          </p:cNvPr>
          <p:cNvSpPr>
            <a:spLocks noGrp="1"/>
          </p:cNvSpPr>
          <p:nvPr/>
        </p:nvSpPr>
        <p:spPr>
          <a:xfrm>
            <a:off x="4828032" y="4233672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DB lock + version son koruma</a:t>
            </a:r>
            <a:endParaRPr sz="106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7607966-8D44-4AC7-A63A-F9D0F9F44DFF}"/>
              </a:ext>
            </a:extLst>
          </p:cNvPr>
          <p:cNvSpPr>
            <a:spLocks noGrp="1"/>
          </p:cNvSpPr>
          <p:nvPr/>
        </p:nvSpPr>
        <p:spPr>
          <a:xfrm>
            <a:off x="8183880" y="1600200"/>
            <a:ext cx="3154680" cy="35204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2638A64-0187-4F0C-9FD8-F0540703596D}"/>
              </a:ext>
            </a:extLst>
          </p:cNvPr>
          <p:cNvSpPr>
            <a:spLocks noGrp="1"/>
          </p:cNvSpPr>
          <p:nvPr/>
        </p:nvSpPr>
        <p:spPr>
          <a:xfrm>
            <a:off x="8183880" y="1600200"/>
            <a:ext cx="3154680" cy="73152"/>
          </a:xfrm>
          <a:prstGeom prst="rect">
            <a:avLst/>
          </a:prstGeom>
          <a:solidFill>
            <a:srgbClr val="7251B5"/>
          </a:solidFill>
          <a:ln w="12700">
            <a:solidFill>
              <a:srgbClr val="7251B5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1798B4C-0F3F-470A-B64B-85B5FD30E057}"/>
              </a:ext>
            </a:extLst>
          </p:cNvPr>
          <p:cNvSpPr>
            <a:spLocks noGrp="1"/>
          </p:cNvSpPr>
          <p:nvPr/>
        </p:nvSpPr>
        <p:spPr>
          <a:xfrm>
            <a:off x="8385048" y="1920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3263A"/>
                </a:solidFill>
              </a:rPr>
              <a:t>Transactional Outbox</a:t>
            </a:r>
            <a:endParaRPr sz="16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5EE184A-63E8-4FC2-9E92-8E8044253F7E}"/>
              </a:ext>
            </a:extLst>
          </p:cNvPr>
          <p:cNvSpPr>
            <a:spLocks noGrp="1"/>
          </p:cNvSpPr>
          <p:nvPr/>
        </p:nvSpPr>
        <p:spPr>
          <a:xfrm>
            <a:off x="8439912" y="2606040"/>
            <a:ext cx="64008" cy="64008"/>
          </a:xfrm>
          <a:prstGeom prst="ellipse">
            <a:avLst/>
          </a:prstGeom>
          <a:solidFill>
            <a:srgbClr val="7251B5"/>
          </a:solidFill>
          <a:ln w="12700">
            <a:solidFill>
              <a:srgbClr val="7251B5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1794343-EE39-481B-956B-7628FDDAC5A4}"/>
              </a:ext>
            </a:extLst>
          </p:cNvPr>
          <p:cNvSpPr>
            <a:spLocks noGrp="1"/>
          </p:cNvSpPr>
          <p:nvPr/>
        </p:nvSpPr>
        <p:spPr>
          <a:xfrm>
            <a:off x="8622792" y="2532888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ledger + tier + outbox tek DB işlemi</a:t>
            </a:r>
            <a:endParaRPr sz="106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ACE27EA-6160-431A-A524-BE6457C66F47}"/>
              </a:ext>
            </a:extLst>
          </p:cNvPr>
          <p:cNvSpPr>
            <a:spLocks noGrp="1"/>
          </p:cNvSpPr>
          <p:nvPr/>
        </p:nvSpPr>
        <p:spPr>
          <a:xfrm>
            <a:off x="8439912" y="3172968"/>
            <a:ext cx="64008" cy="64008"/>
          </a:xfrm>
          <a:prstGeom prst="ellipse">
            <a:avLst/>
          </a:prstGeom>
          <a:solidFill>
            <a:srgbClr val="7251B5"/>
          </a:solidFill>
          <a:ln w="12700">
            <a:solidFill>
              <a:srgbClr val="7251B5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C93E94D-B063-4701-927B-B265C6E20412}"/>
              </a:ext>
            </a:extLst>
          </p:cNvPr>
          <p:cNvSpPr>
            <a:spLocks noGrp="1"/>
          </p:cNvSpPr>
          <p:nvPr/>
        </p:nvSpPr>
        <p:spPr>
          <a:xfrm>
            <a:off x="8622792" y="3099816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publisher at-least-once çalışır</a:t>
            </a:r>
            <a:endParaRPr sz="106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B0E297B-9F31-4A25-9807-BE2A165E5503}"/>
              </a:ext>
            </a:extLst>
          </p:cNvPr>
          <p:cNvSpPr>
            <a:spLocks noGrp="1"/>
          </p:cNvSpPr>
          <p:nvPr/>
        </p:nvSpPr>
        <p:spPr>
          <a:xfrm>
            <a:off x="8439912" y="3739896"/>
            <a:ext cx="64008" cy="64008"/>
          </a:xfrm>
          <a:prstGeom prst="ellipse">
            <a:avLst/>
          </a:prstGeom>
          <a:solidFill>
            <a:srgbClr val="7251B5"/>
          </a:solidFill>
          <a:ln w="12700">
            <a:solidFill>
              <a:srgbClr val="7251B5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9F97692-1791-4D53-85FC-521BD67C2C96}"/>
              </a:ext>
            </a:extLst>
          </p:cNvPr>
          <p:cNvSpPr>
            <a:spLocks noGrp="1"/>
          </p:cNvSpPr>
          <p:nvPr/>
        </p:nvSpPr>
        <p:spPr>
          <a:xfrm>
            <a:off x="8622792" y="3666744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deterministic TIER_CHANGED eventId</a:t>
            </a:r>
            <a:endParaRPr sz="106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48C5561-28CF-4558-9311-2148B4C9E16C}"/>
              </a:ext>
            </a:extLst>
          </p:cNvPr>
          <p:cNvSpPr>
            <a:spLocks noGrp="1"/>
          </p:cNvSpPr>
          <p:nvPr/>
        </p:nvSpPr>
        <p:spPr>
          <a:xfrm>
            <a:off x="8439912" y="4306824"/>
            <a:ext cx="64008" cy="64008"/>
          </a:xfrm>
          <a:prstGeom prst="ellipse">
            <a:avLst/>
          </a:prstGeom>
          <a:solidFill>
            <a:srgbClr val="7251B5"/>
          </a:solidFill>
          <a:ln w="12700">
            <a:solidFill>
              <a:srgbClr val="7251B5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6B45AEA-7679-4882-96A2-D66831189CB6}"/>
              </a:ext>
            </a:extLst>
          </p:cNvPr>
          <p:cNvSpPr>
            <a:spLocks noGrp="1"/>
          </p:cNvSpPr>
          <p:nvPr/>
        </p:nvSpPr>
        <p:spPr>
          <a:xfrm>
            <a:off x="8622792" y="4233672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24364B"/>
                </a:solidFill>
              </a:rPr>
              <a:t>downstream idempotency beklenir</a:t>
            </a:r>
            <a:endParaRPr sz="106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DE25D99-1828-4A85-88FA-A600ED61D101}"/>
              </a:ext>
            </a:extLst>
          </p:cNvPr>
          <p:cNvSpPr>
            <a:spLocks noGrp="1"/>
          </p:cNvSpPr>
          <p:nvPr/>
        </p:nvSpPr>
        <p:spPr>
          <a:xfrm>
            <a:off x="640080" y="5870448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3263A"/>
          </a:solidFill>
          <a:ln w="12700">
            <a:solidFill>
              <a:srgbClr val="13263A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C674EF2-1ECF-4B28-B39E-992DD445969F}"/>
              </a:ext>
            </a:extLst>
          </p:cNvPr>
          <p:cNvSpPr>
            <a:spLocks noGrp="1"/>
          </p:cNvSpPr>
          <p:nvPr/>
        </p:nvSpPr>
        <p:spPr>
          <a:xfrm>
            <a:off x="868680" y="6007608"/>
            <a:ext cx="1045159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551" lnSpcReduction="10000"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Kafka teslimi tekrar etse bile aynı event ikinci kez mil veya statü değişikliği üretmez.</a:t>
            </a:r>
            <a:endParaRPr sz="1150"/>
          </a:p>
        </p:txBody>
      </p:sp>
      <p:sp>
        <p:nvSpPr>
          <p:cNvPr id="40" name="Slide Number Placeholder 0">
            <a:extLst>
              <a:ext uri="{FF2B5EF4-FFF2-40B4-BE49-F238E27FC236}">
                <a16:creationId xmlns:a16="http://schemas.microsoft.com/office/drawing/2014/main" id="{56077679-CA1D-4F70-B33B-12FD3A0EB6D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5092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8B8240-C54A-4AFB-B278-60DE14965B00}"/>
              </a:ext>
            </a:extLst>
          </p:cNvPr>
          <p:cNvSpPr>
            <a:spLocks noGrp="1"/>
          </p:cNvSpPr>
          <p:nvPr/>
        </p:nvSpPr>
        <p:spPr>
          <a:xfrm>
            <a:off x="502920" y="164592"/>
            <a:ext cx="18288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 b="1">
                <a:solidFill>
                  <a:srgbClr val="E31B23"/>
                </a:solidFill>
                <a:latin typeface="Aptos"/>
                <a:ea typeface="Aptos"/>
                <a:cs typeface="Aptos"/>
              </a:rPr>
              <a:t>DOMAIN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E9988A-EAC3-4796-A74F-07A9816EA25E}"/>
              </a:ext>
            </a:extLst>
          </p:cNvPr>
          <p:cNvSpPr>
            <a:spLocks noGrp="1"/>
          </p:cNvSpPr>
          <p:nvPr/>
        </p:nvSpPr>
        <p:spPr>
          <a:xfrm>
            <a:off x="502920" y="49377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3263A"/>
                </a:solidFill>
                <a:latin typeface="Aptos Display"/>
                <a:ea typeface="Aptos Display"/>
                <a:cs typeface="Aptos Display"/>
              </a:rPr>
              <a:t>Statü hesabı ve dönem kuralları</a:t>
            </a:r>
            <a:endParaRPr sz="27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6C7978-7383-4456-B49D-25EBDCD1FF9F}"/>
              </a:ext>
            </a:extLst>
          </p:cNvPr>
          <p:cNvSpPr>
            <a:spLocks noGrp="1"/>
          </p:cNvSpPr>
          <p:nvPr/>
        </p:nvSpPr>
        <p:spPr>
          <a:xfrm>
            <a:off x="530352" y="107899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65758B"/>
                </a:solidFill>
                <a:latin typeface="Aptos"/>
                <a:ea typeface="Aptos"/>
                <a:cs typeface="Aptos"/>
              </a:rPr>
              <a:t>Statü milini işlemin activityDate tarihine ve geçerli oran sürümüne göre hesaplarız.</a:t>
            </a:r>
            <a:endParaRPr sz="11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94B59D7-6C5C-4249-AB55-71DE05E0A201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480480A-B9F5-4359-B91B-2EAC47C47425}"/>
              </a:ext>
            </a:extLst>
          </p:cNvPr>
          <p:cNvSpPr>
            <a:spLocks noGrp="1"/>
          </p:cNvSpPr>
          <p:nvPr/>
        </p:nvSpPr>
        <p:spPr>
          <a:xfrm>
            <a:off x="758952" y="1975104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CLASSIC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Base</a:t>
            </a:r>
            <a:endParaRPr sz="11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D669794-4FF0-418B-AB7B-60BAA9984F3B}"/>
              </a:ext>
            </a:extLst>
          </p:cNvPr>
          <p:cNvSpPr>
            <a:spLocks noGrp="1"/>
          </p:cNvSpPr>
          <p:nvPr/>
        </p:nvSpPr>
        <p:spPr>
          <a:xfrm>
            <a:off x="2651760" y="2176272"/>
            <a:ext cx="411480" cy="0"/>
          </a:xfrm>
          <a:prstGeom prst="line">
            <a:avLst/>
          </a:prstGeom>
          <a:noFill/>
          <a:ln w="19050">
            <a:solidFill>
              <a:srgbClr val="2D5CAA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1E5EABF-EAE1-4D48-A275-F839C654B964}"/>
              </a:ext>
            </a:extLst>
          </p:cNvPr>
          <p:cNvSpPr>
            <a:spLocks noGrp="1"/>
          </p:cNvSpPr>
          <p:nvPr/>
        </p:nvSpPr>
        <p:spPr>
          <a:xfrm>
            <a:off x="3108960" y="1828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8F1FF"/>
          </a:solidFill>
          <a:ln w="12700">
            <a:solidFill>
              <a:srgbClr val="2D5CAA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605BC98-6139-4338-86C3-3D9F6693DC26}"/>
              </a:ext>
            </a:extLst>
          </p:cNvPr>
          <p:cNvSpPr>
            <a:spLocks noGrp="1"/>
          </p:cNvSpPr>
          <p:nvPr/>
        </p:nvSpPr>
        <p:spPr>
          <a:xfrm>
            <a:off x="3182112" y="1975104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CLASSIC PLUS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25k / 15k</a:t>
            </a:r>
            <a:endParaRPr sz="11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BB05593-F516-40B2-A0F2-1D3E0D16967D}"/>
              </a:ext>
            </a:extLst>
          </p:cNvPr>
          <p:cNvSpPr>
            <a:spLocks noGrp="1"/>
          </p:cNvSpPr>
          <p:nvPr/>
        </p:nvSpPr>
        <p:spPr>
          <a:xfrm>
            <a:off x="5074920" y="2176272"/>
            <a:ext cx="411480" cy="0"/>
          </a:xfrm>
          <a:prstGeom prst="line">
            <a:avLst/>
          </a:prstGeom>
          <a:noFill/>
          <a:ln w="19050">
            <a:solidFill>
              <a:srgbClr val="2D5CAA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8459608-DCB9-46C8-A8C7-6BECA4F61423}"/>
              </a:ext>
            </a:extLst>
          </p:cNvPr>
          <p:cNvSpPr>
            <a:spLocks noGrp="1"/>
          </p:cNvSpPr>
          <p:nvPr/>
        </p:nvSpPr>
        <p:spPr>
          <a:xfrm>
            <a:off x="5532120" y="1828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9F7F1"/>
          </a:solidFill>
          <a:ln w="12700">
            <a:solidFill>
              <a:srgbClr val="0D7F5B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DCC8933-4480-4334-8A92-CC211D04AF8C}"/>
              </a:ext>
            </a:extLst>
          </p:cNvPr>
          <p:cNvSpPr>
            <a:spLocks noGrp="1"/>
          </p:cNvSpPr>
          <p:nvPr/>
        </p:nvSpPr>
        <p:spPr>
          <a:xfrm>
            <a:off x="5605272" y="1975104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ELITE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40k / 30k</a:t>
            </a:r>
            <a:endParaRPr sz="11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AE6368F-B94A-4045-B34D-6A9D49490255}"/>
              </a:ext>
            </a:extLst>
          </p:cNvPr>
          <p:cNvSpPr>
            <a:spLocks noGrp="1"/>
          </p:cNvSpPr>
          <p:nvPr/>
        </p:nvSpPr>
        <p:spPr>
          <a:xfrm>
            <a:off x="7498080" y="2176272"/>
            <a:ext cx="411480" cy="0"/>
          </a:xfrm>
          <a:prstGeom prst="line">
            <a:avLst/>
          </a:prstGeom>
          <a:noFill/>
          <a:ln w="19050">
            <a:solidFill>
              <a:srgbClr val="2D5CAA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A5A603D-E67C-45CF-8F74-0165243EA73A}"/>
              </a:ext>
            </a:extLst>
          </p:cNvPr>
          <p:cNvSpPr>
            <a:spLocks noGrp="1"/>
          </p:cNvSpPr>
          <p:nvPr/>
        </p:nvSpPr>
        <p:spPr>
          <a:xfrm>
            <a:off x="7955280" y="1828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2EDFF"/>
          </a:solidFill>
          <a:ln w="12700">
            <a:solidFill>
              <a:srgbClr val="7251B5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229094-48F5-4DEA-A8F1-D9B02FF79A83}"/>
              </a:ext>
            </a:extLst>
          </p:cNvPr>
          <p:cNvSpPr>
            <a:spLocks noGrp="1"/>
          </p:cNvSpPr>
          <p:nvPr/>
        </p:nvSpPr>
        <p:spPr>
          <a:xfrm>
            <a:off x="8028432" y="1975104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ELITE PLUS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13263A"/>
                </a:solidFill>
              </a:rPr>
              <a:t>80k / 60k</a:t>
            </a:r>
            <a:endParaRPr sz="11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095E785-9CED-4B02-AA60-C214C7F09B20}"/>
              </a:ext>
            </a:extLst>
          </p:cNvPr>
          <p:cNvSpPr>
            <a:spLocks noGrp="1"/>
          </p:cNvSpPr>
          <p:nvPr/>
        </p:nvSpPr>
        <p:spPr>
          <a:xfrm>
            <a:off x="4114800" y="27432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65758B"/>
                </a:solidFill>
              </a:rPr>
              <a:t>Yükselme eşiği / yenileme eşiği (bin mil)</a:t>
            </a:r>
            <a:endParaRPr sz="9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7804A41-0C7C-4065-BBB5-B2D700B38483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2D5CAA"/>
                </a:solidFill>
              </a:rPr>
              <a:t>Calculation</a:t>
            </a:r>
            <a:endParaRPr sz="14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7A2B87B-02E7-450F-9B63-533DABA0D9D6}"/>
              </a:ext>
            </a:extLst>
          </p:cNvPr>
          <p:cNvSpPr>
            <a:spLocks noGrp="1"/>
          </p:cNvSpPr>
          <p:nvPr/>
        </p:nvSpPr>
        <p:spPr>
          <a:xfrm>
            <a:off x="777240" y="434340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24364B"/>
                </a:solidFill>
              </a:rPr>
              <a:t>BigDecimal + HALF_UP</a:t>
            </a:r>
            <a:endParaRPr sz="107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85D9421-1004-4F43-B906-C5BA45F5E167}"/>
              </a:ext>
            </a:extLst>
          </p:cNvPr>
          <p:cNvSpPr>
            <a:spLocks noGrp="1"/>
          </p:cNvSpPr>
          <p:nvPr/>
        </p:nvSpPr>
        <p:spPr>
          <a:xfrm>
            <a:off x="777240" y="469087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24364B"/>
                </a:solidFill>
              </a:rPr>
              <a:t>minimum mileage</a:t>
            </a:r>
            <a:endParaRPr sz="107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9DB2CEF-F144-4A0E-ADD3-5BA6B9FF63DD}"/>
              </a:ext>
            </a:extLst>
          </p:cNvPr>
          <p:cNvSpPr>
            <a:spLocks noGrp="1"/>
          </p:cNvSpPr>
          <p:nvPr/>
        </p:nvSpPr>
        <p:spPr>
          <a:xfrm>
            <a:off x="777240" y="503834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24364B"/>
                </a:solidFill>
              </a:rPr>
              <a:t>rate resolved by activityDate</a:t>
            </a:r>
            <a:endParaRPr sz="107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1940277-CC17-4B82-B99E-A535FF1FF56E}"/>
              </a:ext>
            </a:extLst>
          </p:cNvPr>
          <p:cNvSpPr>
            <a:spLocks noGrp="1"/>
          </p:cNvSpPr>
          <p:nvPr/>
        </p:nvSpPr>
        <p:spPr>
          <a:xfrm>
            <a:off x="4480560" y="3886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0D7F5B"/>
                </a:solidFill>
              </a:rPr>
              <a:t>Late / Out-of-Order</a:t>
            </a:r>
            <a:endParaRPr sz="14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173259E-B1B7-4E21-904C-4127EAB178DF}"/>
              </a:ext>
            </a:extLst>
          </p:cNvPr>
          <p:cNvSpPr>
            <a:spLocks noGrp="1"/>
          </p:cNvSpPr>
          <p:nvPr/>
        </p:nvSpPr>
        <p:spPr>
          <a:xfrm>
            <a:off x="4572000" y="434340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24364B"/>
                </a:solidFill>
              </a:rPr>
              <a:t>reversal before original → pending_reversal</a:t>
            </a:r>
            <a:endParaRPr sz="107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8A4DE6A-A5C8-41D8-B806-BAE59B9AF5AE}"/>
              </a:ext>
            </a:extLst>
          </p:cNvPr>
          <p:cNvSpPr>
            <a:spLocks noGrp="1"/>
          </p:cNvSpPr>
          <p:nvPr/>
        </p:nvSpPr>
        <p:spPr>
          <a:xfrm>
            <a:off x="4572000" y="469087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24364B"/>
                </a:solidFill>
              </a:rPr>
              <a:t>geç event → ait olduğu yılın toplamı</a:t>
            </a:r>
            <a:endParaRPr sz="107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6803253-6C65-4791-A677-29984B1584EF}"/>
              </a:ext>
            </a:extLst>
          </p:cNvPr>
          <p:cNvSpPr>
            <a:spLocks noGrp="1"/>
          </p:cNvSpPr>
          <p:nvPr/>
        </p:nvSpPr>
        <p:spPr>
          <a:xfrm>
            <a:off x="4572000" y="503834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24364B"/>
                </a:solidFill>
              </a:rPr>
              <a:t>geçmişte kullanılan haklar korunur</a:t>
            </a:r>
            <a:endParaRPr sz="107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F7563A1-23E5-44F0-A8C1-A2C2F2001397}"/>
              </a:ext>
            </a:extLst>
          </p:cNvPr>
          <p:cNvSpPr>
            <a:spLocks noGrp="1"/>
          </p:cNvSpPr>
          <p:nvPr/>
        </p:nvSpPr>
        <p:spPr>
          <a:xfrm>
            <a:off x="8275320" y="3886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E31B23"/>
                </a:solidFill>
              </a:rPr>
              <a:t>Lifecycle</a:t>
            </a:r>
            <a:endParaRPr sz="14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43FF6AF-935C-4B55-ABFF-E948135A45F5}"/>
              </a:ext>
            </a:extLst>
          </p:cNvPr>
          <p:cNvSpPr>
            <a:spLocks noGrp="1"/>
          </p:cNvSpPr>
          <p:nvPr/>
        </p:nvSpPr>
        <p:spPr>
          <a:xfrm>
            <a:off x="8366760" y="434340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24364B"/>
                </a:solidFill>
              </a:rPr>
              <a:t>upgrade after eligible activity</a:t>
            </a:r>
            <a:endParaRPr sz="107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99E86BA-4D6A-403D-BDD0-390DEE077B93}"/>
              </a:ext>
            </a:extLst>
          </p:cNvPr>
          <p:cNvSpPr>
            <a:spLocks noGrp="1"/>
          </p:cNvSpPr>
          <p:nvPr/>
        </p:nvSpPr>
        <p:spPr>
          <a:xfrm>
            <a:off x="8366760" y="469087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24364B"/>
                </a:solidFill>
              </a:rPr>
              <a:t>renewal at period close</a:t>
            </a:r>
            <a:endParaRPr sz="107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B60235C-C7F0-4A9F-994C-A2BE3A53CB71}"/>
              </a:ext>
            </a:extLst>
          </p:cNvPr>
          <p:cNvSpPr>
            <a:spLocks noGrp="1"/>
          </p:cNvSpPr>
          <p:nvPr/>
        </p:nvSpPr>
        <p:spPr>
          <a:xfrm>
            <a:off x="8366760" y="503834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24364B"/>
                </a:solidFill>
              </a:rPr>
              <a:t>expiry: one tier down</a:t>
            </a:r>
            <a:endParaRPr sz="1070"/>
          </a:p>
        </p:txBody>
      </p: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679EB32F-D26A-4F12-B3B4-065545402AF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52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222230-5C54-4F9B-86FC-543187C72A5C}"/>
              </a:ext>
            </a:extLst>
          </p:cNvPr>
          <p:cNvSpPr>
            <a:spLocks noGrp="1"/>
          </p:cNvSpPr>
          <p:nvPr/>
        </p:nvSpPr>
        <p:spPr>
          <a:xfrm>
            <a:off x="502920" y="164592"/>
            <a:ext cx="18288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 b="1">
                <a:solidFill>
                  <a:srgbClr val="E31B23"/>
                </a:solidFill>
                <a:latin typeface="Aptos"/>
                <a:ea typeface="Aptos"/>
                <a:cs typeface="Aptos"/>
              </a:rPr>
              <a:t>DEMO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0384AD-E8A0-480A-AAD0-F702ED9AFE5E}"/>
              </a:ext>
            </a:extLst>
          </p:cNvPr>
          <p:cNvSpPr>
            <a:spLocks noGrp="1"/>
          </p:cNvSpPr>
          <p:nvPr/>
        </p:nvSpPr>
        <p:spPr>
          <a:xfrm>
            <a:off x="502920" y="49377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3263A"/>
                </a:solidFill>
                <a:latin typeface="Aptos Display"/>
                <a:ea typeface="Aptos Display"/>
                <a:cs typeface="Aptos Display"/>
              </a:rPr>
              <a:t>Canlı demo akışı</a:t>
            </a:r>
            <a:endParaRPr sz="27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A9EE81-7D5E-4F02-B30E-8E39539335C1}"/>
              </a:ext>
            </a:extLst>
          </p:cNvPr>
          <p:cNvSpPr>
            <a:spLocks noGrp="1"/>
          </p:cNvSpPr>
          <p:nvPr/>
        </p:nvSpPr>
        <p:spPr>
          <a:xfrm>
            <a:off x="530352" y="107899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65758B"/>
                </a:solidFill>
                <a:latin typeface="Aptos"/>
                <a:ea typeface="Aptos"/>
                <a:cs typeface="Aptos"/>
              </a:rPr>
              <a:t>Tek üye üzerinden mil hesabı, tekrar teslim, iptal ve statü kararını gösteririm.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11C03B-DCBB-4A35-A9FC-691670E4BE0B}"/>
              </a:ext>
            </a:extLst>
          </p:cNvPr>
          <p:cNvSpPr>
            <a:spLocks noGrp="1"/>
          </p:cNvSpPr>
          <p:nvPr/>
        </p:nvSpPr>
        <p:spPr>
          <a:xfrm>
            <a:off x="777240" y="16642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2D5CAA"/>
                </a:solidFill>
              </a:rPr>
              <a:t>01</a:t>
            </a:r>
            <a:endParaRPr sz="15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B8A02C-9F3D-47D0-A591-16959B571731}"/>
              </a:ext>
            </a:extLst>
          </p:cNvPr>
          <p:cNvSpPr>
            <a:spLocks noGrp="1"/>
          </p:cNvSpPr>
          <p:nvPr/>
        </p:nvSpPr>
        <p:spPr>
          <a:xfrm>
            <a:off x="1463040" y="164592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3263A"/>
                </a:solidFill>
              </a:rPr>
              <a:t>Hazırlık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10F0A7-0833-4D08-9BBC-D0B24A03A3ED}"/>
              </a:ext>
            </a:extLst>
          </p:cNvPr>
          <p:cNvSpPr>
            <a:spLocks noGrp="1"/>
          </p:cNvSpPr>
          <p:nvPr/>
        </p:nvSpPr>
        <p:spPr>
          <a:xfrm>
            <a:off x="1463040" y="20116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70">
                <a:solidFill>
                  <a:srgbClr val="24364B"/>
                </a:solidFill>
              </a:rPr>
              <a:t>Kafka/PostgreSQL ayakta; uygulama IntelliJ’den açık</a:t>
            </a:r>
            <a:endParaRPr sz="117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3D3F184-F557-4D2E-A596-4EDD7D3BD878}"/>
              </a:ext>
            </a:extLst>
          </p:cNvPr>
          <p:cNvSpPr>
            <a:spLocks noGrp="1"/>
          </p:cNvSpPr>
          <p:nvPr/>
        </p:nvSpPr>
        <p:spPr>
          <a:xfrm>
            <a:off x="1005840" y="2359152"/>
            <a:ext cx="0" cy="3657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7954855-3397-4940-A1E2-20CB8144FB7E}"/>
              </a:ext>
            </a:extLst>
          </p:cNvPr>
          <p:cNvSpPr>
            <a:spLocks noGrp="1"/>
          </p:cNvSpPr>
          <p:nvPr/>
        </p:nvSpPr>
        <p:spPr>
          <a:xfrm>
            <a:off x="777240" y="2834640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D7F5B"/>
                </a:solidFill>
              </a:rPr>
              <a:t>02</a:t>
            </a:r>
            <a:endParaRPr sz="15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A36D1FE-43A5-4544-8A24-393AFA8F9247}"/>
              </a:ext>
            </a:extLst>
          </p:cNvPr>
          <p:cNvSpPr>
            <a:spLocks noGrp="1"/>
          </p:cNvSpPr>
          <p:nvPr/>
        </p:nvSpPr>
        <p:spPr>
          <a:xfrm>
            <a:off x="1463040" y="281635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3263A"/>
                </a:solidFill>
              </a:rPr>
              <a:t>Uçuş ve sorgu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96E479-6B4F-423B-8E48-95949B3B5A65}"/>
              </a:ext>
            </a:extLst>
          </p:cNvPr>
          <p:cNvSpPr>
            <a:spLocks noGrp="1"/>
          </p:cNvSpPr>
          <p:nvPr/>
        </p:nvSpPr>
        <p:spPr>
          <a:xfrm>
            <a:off x="1463040" y="318211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70">
                <a:solidFill>
                  <a:srgbClr val="24364B"/>
                </a:solidFill>
              </a:rPr>
              <a:t>Swagger uçuşu → 2.328 mil; tier API ile doğrula</a:t>
            </a:r>
            <a:endParaRPr sz="117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A75B6FC-4566-431A-BF0F-ABCFDFD09EFD}"/>
              </a:ext>
            </a:extLst>
          </p:cNvPr>
          <p:cNvSpPr>
            <a:spLocks noGrp="1"/>
          </p:cNvSpPr>
          <p:nvPr/>
        </p:nvSpPr>
        <p:spPr>
          <a:xfrm>
            <a:off x="1005840" y="3529584"/>
            <a:ext cx="0" cy="3657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B0A81AA-AB93-42A5-B4FF-778048DEC443}"/>
              </a:ext>
            </a:extLst>
          </p:cNvPr>
          <p:cNvSpPr>
            <a:spLocks noGrp="1"/>
          </p:cNvSpPr>
          <p:nvPr/>
        </p:nvSpPr>
        <p:spPr>
          <a:xfrm>
            <a:off x="777240" y="4005072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2D5CAA"/>
                </a:solidFill>
              </a:rPr>
              <a:t>03</a:t>
            </a:r>
            <a:endParaRPr sz="15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99955A4-51A6-449D-98F0-5A3E96B35AF9}"/>
              </a:ext>
            </a:extLst>
          </p:cNvPr>
          <p:cNvSpPr>
            <a:spLocks noGrp="1"/>
          </p:cNvSpPr>
          <p:nvPr/>
        </p:nvSpPr>
        <p:spPr>
          <a:xfrm>
            <a:off x="1463040" y="398678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3263A"/>
                </a:solidFill>
              </a:rPr>
              <a:t>Tekrar teslim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6030124-72DC-49ED-B24E-FF36FEE03F23}"/>
              </a:ext>
            </a:extLst>
          </p:cNvPr>
          <p:cNvSpPr>
            <a:spLocks noGrp="1"/>
          </p:cNvSpPr>
          <p:nvPr/>
        </p:nvSpPr>
        <p:spPr>
          <a:xfrm>
            <a:off x="1463040" y="435254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70">
                <a:solidFill>
                  <a:srgbClr val="24364B"/>
                </a:solidFill>
              </a:rPr>
              <a:t>Aynı eventId tekrar → toplam ve ledger değişmez</a:t>
            </a:r>
            <a:endParaRPr sz="117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FA66FA5-5496-4F3F-957C-62EAFED644FA}"/>
              </a:ext>
            </a:extLst>
          </p:cNvPr>
          <p:cNvSpPr>
            <a:spLocks noGrp="1"/>
          </p:cNvSpPr>
          <p:nvPr/>
        </p:nvSpPr>
        <p:spPr>
          <a:xfrm>
            <a:off x="6400800" y="16642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D7F5B"/>
                </a:solidFill>
              </a:rPr>
              <a:t>04</a:t>
            </a:r>
            <a:endParaRPr sz="15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5F70FEF-9224-43DC-9348-B81900676C2E}"/>
              </a:ext>
            </a:extLst>
          </p:cNvPr>
          <p:cNvSpPr>
            <a:spLocks noGrp="1"/>
          </p:cNvSpPr>
          <p:nvPr/>
        </p:nvSpPr>
        <p:spPr>
          <a:xfrm>
            <a:off x="7086600" y="164592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3263A"/>
                </a:solidFill>
              </a:rPr>
              <a:t>Partner ve yükselme</a:t>
            </a:r>
            <a:endParaRPr sz="15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579FA2E-38B1-48D9-A8B8-47F355E07E6F}"/>
              </a:ext>
            </a:extLst>
          </p:cNvPr>
          <p:cNvSpPr>
            <a:spLocks noGrp="1"/>
          </p:cNvSpPr>
          <p:nvPr/>
        </p:nvSpPr>
        <p:spPr>
          <a:xfrm>
            <a:off x="7086600" y="20116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70">
                <a:solidFill>
                  <a:srgbClr val="24364B"/>
                </a:solidFill>
              </a:rPr>
              <a:t>Otel/banka işlemi, düzeltme → ELITE ve history</a:t>
            </a:r>
            <a:endParaRPr sz="117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E3310D5-9255-4D30-81B3-D83134ACD68A}"/>
              </a:ext>
            </a:extLst>
          </p:cNvPr>
          <p:cNvSpPr>
            <a:spLocks noGrp="1"/>
          </p:cNvSpPr>
          <p:nvPr/>
        </p:nvSpPr>
        <p:spPr>
          <a:xfrm>
            <a:off x="6629400" y="2359152"/>
            <a:ext cx="0" cy="3657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727E3AE-CCCE-46DB-8EBB-9D10D3912ADA}"/>
              </a:ext>
            </a:extLst>
          </p:cNvPr>
          <p:cNvSpPr>
            <a:spLocks noGrp="1"/>
          </p:cNvSpPr>
          <p:nvPr/>
        </p:nvSpPr>
        <p:spPr>
          <a:xfrm>
            <a:off x="6400800" y="2834640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2D5CAA"/>
                </a:solidFill>
              </a:rPr>
              <a:t>05</a:t>
            </a:r>
            <a:endParaRPr sz="15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2C92F61-0A2A-4AAA-9BDD-227F8B9F6804}"/>
              </a:ext>
            </a:extLst>
          </p:cNvPr>
          <p:cNvSpPr>
            <a:spLocks noGrp="1"/>
          </p:cNvSpPr>
          <p:nvPr/>
        </p:nvSpPr>
        <p:spPr>
          <a:xfrm>
            <a:off x="7086600" y="281635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3263A"/>
                </a:solidFill>
              </a:rPr>
              <a:t>Sırasız iptal</a:t>
            </a:r>
            <a:endParaRPr sz="15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D039DCF-D3D5-4AC1-99C4-72C41F625CC2}"/>
              </a:ext>
            </a:extLst>
          </p:cNvPr>
          <p:cNvSpPr>
            <a:spLocks noGrp="1"/>
          </p:cNvSpPr>
          <p:nvPr/>
        </p:nvSpPr>
        <p:spPr>
          <a:xfrm>
            <a:off x="7086600" y="318211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70">
                <a:solidFill>
                  <a:srgbClr val="24364B"/>
                </a:solidFill>
              </a:rPr>
              <a:t>Reversal önce gelir; uçuş gelince net etki 0 olur</a:t>
            </a:r>
            <a:endParaRPr sz="117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4785ABE-7374-4095-88C8-C510DA9173A2}"/>
              </a:ext>
            </a:extLst>
          </p:cNvPr>
          <p:cNvSpPr>
            <a:spLocks noGrp="1"/>
          </p:cNvSpPr>
          <p:nvPr/>
        </p:nvSpPr>
        <p:spPr>
          <a:xfrm>
            <a:off x="6629400" y="3529584"/>
            <a:ext cx="0" cy="3657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958CE56-939A-47B8-9F44-531207BF990C}"/>
              </a:ext>
            </a:extLst>
          </p:cNvPr>
          <p:cNvSpPr>
            <a:spLocks noGrp="1"/>
          </p:cNvSpPr>
          <p:nvPr/>
        </p:nvSpPr>
        <p:spPr>
          <a:xfrm>
            <a:off x="6400800" y="4005072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D7F5B"/>
                </a:solidFill>
              </a:rPr>
              <a:t>06</a:t>
            </a:r>
            <a:endParaRPr sz="15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F9A791F-A506-44E8-9009-6BBC176F947C}"/>
              </a:ext>
            </a:extLst>
          </p:cNvPr>
          <p:cNvSpPr>
            <a:spLocks noGrp="1"/>
          </p:cNvSpPr>
          <p:nvPr/>
        </p:nvSpPr>
        <p:spPr>
          <a:xfrm>
            <a:off x="7086600" y="398678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3263A"/>
                </a:solidFill>
              </a:rPr>
              <a:t>Geç olay / dönem sonu</a:t>
            </a:r>
            <a:endParaRPr sz="15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FF7F38A-A4EB-4354-B9FE-DD2160135FA7}"/>
              </a:ext>
            </a:extLst>
          </p:cNvPr>
          <p:cNvSpPr>
            <a:spLocks noGrp="1"/>
          </p:cNvSpPr>
          <p:nvPr/>
        </p:nvSpPr>
        <p:spPr>
          <a:xfrm>
            <a:off x="7086600" y="435254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70">
                <a:solidFill>
                  <a:srgbClr val="24364B"/>
                </a:solidFill>
              </a:rPr>
              <a:t>Retro kendi yılına; aktif iptal statüyü düzeltir</a:t>
            </a:r>
            <a:endParaRPr sz="117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C1B9246-3A38-41F0-9984-62D4EF190FD8}"/>
              </a:ext>
            </a:extLst>
          </p:cNvPr>
          <p:cNvSpPr>
            <a:spLocks noGrp="1"/>
          </p:cNvSpPr>
          <p:nvPr/>
        </p:nvSpPr>
        <p:spPr>
          <a:xfrm>
            <a:off x="640080" y="5870448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3263A"/>
          </a:solidFill>
          <a:ln w="12700">
            <a:solidFill>
              <a:srgbClr val="13263A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CED8A75-5D7F-4EA2-8FEB-7EA5519B53F3}"/>
              </a:ext>
            </a:extLst>
          </p:cNvPr>
          <p:cNvSpPr>
            <a:spLocks noGrp="1"/>
          </p:cNvSpPr>
          <p:nvPr/>
        </p:nvSpPr>
        <p:spPr>
          <a:xfrm>
            <a:off x="868680" y="6007608"/>
            <a:ext cx="1045159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551" lnSpcReduction="10000"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Swagger girişi Kafka’ya yazar; sonucu GET API ile asenkron olarak doğrularım.</a:t>
            </a:r>
            <a:endParaRPr sz="1150"/>
          </a:p>
        </p:txBody>
      </p: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B5E6B73D-E050-4F89-AE05-D86C0B69C00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7284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AA9634-AF01-4A18-8599-57E1AA341AAD}"/>
              </a:ext>
            </a:extLst>
          </p:cNvPr>
          <p:cNvSpPr>
            <a:spLocks noGrp="1"/>
          </p:cNvSpPr>
          <p:nvPr/>
        </p:nvSpPr>
        <p:spPr>
          <a:xfrm>
            <a:off x="502920" y="164592"/>
            <a:ext cx="18288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 b="1">
                <a:solidFill>
                  <a:srgbClr val="E31B23"/>
                </a:solidFill>
                <a:latin typeface="Aptos"/>
                <a:ea typeface="Aptos"/>
                <a:cs typeface="Aptos"/>
              </a:rPr>
              <a:t>OPERASYON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078D27-ABB7-4D67-B0B2-9D38B35261BA}"/>
              </a:ext>
            </a:extLst>
          </p:cNvPr>
          <p:cNvSpPr>
            <a:spLocks noGrp="1"/>
          </p:cNvSpPr>
          <p:nvPr/>
        </p:nvSpPr>
        <p:spPr>
          <a:xfrm>
            <a:off x="502920" y="49377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3263A"/>
                </a:solidFill>
                <a:latin typeface="Aptos Display"/>
                <a:ea typeface="Aptos Display"/>
                <a:cs typeface="Aptos Display"/>
              </a:rPr>
              <a:t>Yoğun trafikte işletim</a:t>
            </a:r>
            <a:endParaRPr sz="27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C83632-D9F6-475E-BCA7-71E1B85B9CAF}"/>
              </a:ext>
            </a:extLst>
          </p:cNvPr>
          <p:cNvSpPr>
            <a:spLocks noGrp="1"/>
          </p:cNvSpPr>
          <p:nvPr/>
        </p:nvSpPr>
        <p:spPr>
          <a:xfrm>
            <a:off x="530352" y="107899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65758B"/>
                </a:solidFill>
                <a:latin typeface="Aptos"/>
                <a:ea typeface="Aptos"/>
                <a:cs typeface="Aptos"/>
              </a:rPr>
              <a:t>İzleme ve ölçekleme yaklaşımı; bu performans prototipte yük testiyle kanıtlanmadı.</a:t>
            </a:r>
            <a:endParaRPr sz="11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7B2484A-85E3-411B-B218-B377D419FDC7}"/>
              </a:ext>
            </a:extLst>
          </p:cNvPr>
          <p:cNvSpPr>
            <a:spLocks noGrp="1"/>
          </p:cNvSpPr>
          <p:nvPr/>
        </p:nvSpPr>
        <p:spPr>
          <a:xfrm>
            <a:off x="594360" y="1600200"/>
            <a:ext cx="3703320" cy="2240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6A49DCF-850B-4FBE-8B42-31A7DEDE2639}"/>
              </a:ext>
            </a:extLst>
          </p:cNvPr>
          <p:cNvSpPr>
            <a:spLocks noGrp="1"/>
          </p:cNvSpPr>
          <p:nvPr/>
        </p:nvSpPr>
        <p:spPr>
          <a:xfrm>
            <a:off x="594360" y="1733550"/>
            <a:ext cx="370332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3047"/>
                </a:solidFill>
                <a:latin typeface="Aptos"/>
                <a:ea typeface="Aptos"/>
                <a:cs typeface="Aptos"/>
              </a:rPr>
              <a:t>Lag ve back-pressure</a:t>
            </a:r>
            <a:endParaRPr sz="85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2BFBC73-C72A-40A2-8C5A-C6DB4EA62DE8}"/>
              </a:ext>
            </a:extLst>
          </p:cNvPr>
          <p:cNvSpPr>
            <a:spLocks noGrp="1"/>
          </p:cNvSpPr>
          <p:nvPr/>
        </p:nvSpPr>
        <p:spPr>
          <a:xfrm>
            <a:off x="4526280" y="1600200"/>
            <a:ext cx="34290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7B2FE72-54D8-4961-9D8F-20D3A5BB763F}"/>
              </a:ext>
            </a:extLst>
          </p:cNvPr>
          <p:cNvSpPr>
            <a:spLocks noGrp="1"/>
          </p:cNvSpPr>
          <p:nvPr/>
        </p:nvSpPr>
        <p:spPr>
          <a:xfrm>
            <a:off x="4526280" y="1733550"/>
            <a:ext cx="34290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3047"/>
                </a:solidFill>
                <a:latin typeface="Aptos"/>
                <a:ea typeface="Aptos"/>
                <a:cs typeface="Aptos"/>
              </a:rPr>
              <a:t>Ölçek ve izolasyon</a:t>
            </a:r>
            <a:endParaRPr sz="85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5DC2822-B8B6-4DA4-8C92-249E0B79C31A}"/>
              </a:ext>
            </a:extLst>
          </p:cNvPr>
          <p:cNvSpPr>
            <a:spLocks noGrp="1"/>
          </p:cNvSpPr>
          <p:nvPr/>
        </p:nvSpPr>
        <p:spPr>
          <a:xfrm>
            <a:off x="8183880" y="1600200"/>
            <a:ext cx="34290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77DC21A-CCF3-40C3-9757-31F46DA29259}"/>
              </a:ext>
            </a:extLst>
          </p:cNvPr>
          <p:cNvSpPr>
            <a:spLocks noGrp="1"/>
          </p:cNvSpPr>
          <p:nvPr/>
        </p:nvSpPr>
        <p:spPr>
          <a:xfrm>
            <a:off x="8183880" y="1733550"/>
            <a:ext cx="34290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3047"/>
                </a:solidFill>
                <a:latin typeface="Aptos"/>
                <a:ea typeface="Aptos"/>
                <a:cs typeface="Aptos"/>
              </a:rPr>
              <a:t>Veri büyümesi</a:t>
            </a:r>
            <a:endParaRPr sz="8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2A570DA-B46E-4EF5-99D4-30DA3C15850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24FF9D86-47FF-4D18-83D9-C67C5B4755CC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3286125" cy="1447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İki topic için consumer lag ve</a:t>
            </a:r>
          </a:p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en eski mesajın yaşını izle.</a:t>
            </a:r>
          </a:p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DB zorlanırsa tüketimi sınırla;</a:t>
            </a:r>
          </a:p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retention dolmadan birikimi erit.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41D87ABC-5B02-4BD1-8331-02E4BD711CE2}"/>
              </a:ext>
            </a:extLst>
          </p:cNvPr>
          <p:cNvSpPr>
            <a:spLocks noGrp="1"/>
          </p:cNvSpPr>
          <p:nvPr/>
        </p:nvSpPr>
        <p:spPr>
          <a:xfrm>
            <a:off x="4724400" y="2190750"/>
            <a:ext cx="3000375" cy="1447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API ve consumer ayrı deployment.</a:t>
            </a:r>
          </a:p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Readiness ve kaynak limitleri var.</a:t>
            </a:r>
          </a:p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Consumer için lag bazlı autoscale</a:t>
            </a:r>
          </a:p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üretim önerisi; sınır partition.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1CD853E5-7259-4DDB-B534-D80001F8319E}"/>
              </a:ext>
            </a:extLst>
          </p:cNvPr>
          <p:cNvSpPr>
            <a:spLocks noGrp="1"/>
          </p:cNvSpPr>
          <p:nvPr/>
        </p:nvSpPr>
        <p:spPr>
          <a:xfrm>
            <a:off x="8382000" y="2190750"/>
            <a:ext cx="2971800" cy="1447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raw_event ve ledger için dönem</a:t>
            </a:r>
          </a:p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bazlı partition + arşiv önerisi.</a:t>
            </a:r>
          </a:p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Dönem kapanışını planla; outbox</a:t>
            </a:r>
          </a:p>
          <a:p>
            <a:pPr>
              <a:buNone/>
              <a:defRPr sz="1313">
                <a:solidFill>
                  <a:srgbClr val="193047"/>
                </a:solidFill>
                <a:latin typeface="Aptos"/>
                <a:ea typeface="Aptos"/>
                <a:cs typeface="Aptos"/>
              </a:defRPr>
            </a:pPr>
            <a:r>
              <a:rPr sz="1313">
                <a:solidFill>
                  <a:srgbClr val="193047"/>
                </a:solidFill>
                <a:latin typeface="Aptos"/>
                <a:ea typeface="Aptos"/>
                <a:cs typeface="Aptos"/>
              </a:rPr>
              <a:t>birikimini ayrıca izle.</a:t>
            </a:r>
          </a:p>
        </p:txBody>
      </p:sp>
    </p:spTree>
    <p:extLst>
      <p:ext uri="{BB962C8B-B14F-4D97-AF65-F5344CB8AC3E}">
        <p14:creationId xmlns:p14="http://schemas.microsoft.com/office/powerpoint/2010/main" val="268508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38A817-B723-4317-A49A-0E0F92623C28}"/>
              </a:ext>
            </a:extLst>
          </p:cNvPr>
          <p:cNvSpPr>
            <a:spLocks noGrp="1"/>
          </p:cNvSpPr>
          <p:nvPr/>
        </p:nvSpPr>
        <p:spPr>
          <a:xfrm>
            <a:off x="502920" y="164592"/>
            <a:ext cx="18288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 b="1">
                <a:solidFill>
                  <a:srgbClr val="E31B23"/>
                </a:solidFill>
                <a:latin typeface="Aptos"/>
                <a:ea typeface="Aptos"/>
                <a:cs typeface="Aptos"/>
              </a:rPr>
              <a:t>SONUÇ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C6B308-C73A-4C06-A362-F959D7BA42F9}"/>
              </a:ext>
            </a:extLst>
          </p:cNvPr>
          <p:cNvSpPr>
            <a:spLocks noGrp="1"/>
          </p:cNvSpPr>
          <p:nvPr/>
        </p:nvSpPr>
        <p:spPr>
          <a:xfrm>
            <a:off x="502920" y="49377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3263A"/>
                </a:solidFill>
                <a:latin typeface="Aptos Display"/>
                <a:ea typeface="Aptos Display"/>
                <a:cs typeface="Aptos Display"/>
              </a:rPr>
              <a:t>Prototip ve üretim sınırı</a:t>
            </a:r>
            <a:endParaRPr sz="27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A6CC84-8487-4477-AA9F-D94A6D40DDE4}"/>
              </a:ext>
            </a:extLst>
          </p:cNvPr>
          <p:cNvSpPr>
            <a:spLocks noGrp="1"/>
          </p:cNvSpPr>
          <p:nvPr/>
        </p:nvSpPr>
        <p:spPr>
          <a:xfrm>
            <a:off x="530352" y="107899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65758B"/>
                </a:solidFill>
                <a:latin typeface="Aptos"/>
                <a:ea typeface="Aptos"/>
                <a:cs typeface="Aptos"/>
              </a:rPr>
              <a:t>Çalışan akış ile sonraki üretim adımlarını açıkça ayırıyorum.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025CF1-BF61-4BB4-BA84-8590ADCD3E11}"/>
              </a:ext>
            </a:extLst>
          </p:cNvPr>
          <p:cNvSpPr>
            <a:spLocks noGrp="1"/>
          </p:cNvSpPr>
          <p:nvPr/>
        </p:nvSpPr>
        <p:spPr>
          <a:xfrm>
            <a:off x="777240" y="15544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D7F5B"/>
                </a:solidFill>
              </a:rPr>
              <a:t>Prototipte gösterilen</a:t>
            </a:r>
            <a:endParaRPr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992C10-8626-4A3B-ABC4-6299113250EF}"/>
              </a:ext>
            </a:extLst>
          </p:cNvPr>
          <p:cNvSpPr>
            <a:spLocks noGrp="1"/>
          </p:cNvSpPr>
          <p:nvPr/>
        </p:nvSpPr>
        <p:spPr>
          <a:xfrm>
            <a:off x="795528" y="193852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80">
                <a:solidFill>
                  <a:srgbClr val="24364B"/>
                </a:solidFill>
              </a:rPr>
              <a:t>Kafka → statü hesabı → API, idempotency, DLT ve audit geçmişi.</a:t>
            </a:r>
            <a:endParaRPr sz="118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9D4D908-8ABE-413D-B8C4-AF9E4E5552C9}"/>
              </a:ext>
            </a:extLst>
          </p:cNvPr>
          <p:cNvSpPr>
            <a:spLocks noGrp="1"/>
          </p:cNvSpPr>
          <p:nvPr/>
        </p:nvSpPr>
        <p:spPr>
          <a:xfrm>
            <a:off x="777240" y="26974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2D5CAA"/>
                </a:solidFill>
              </a:rPr>
              <a:t>Üretim için öncelik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B4BC76A-6E57-4ACD-BDDB-F39043667ADF}"/>
              </a:ext>
            </a:extLst>
          </p:cNvPr>
          <p:cNvSpPr>
            <a:spLocks noGrp="1"/>
          </p:cNvSpPr>
          <p:nvPr/>
        </p:nvSpPr>
        <p:spPr>
          <a:xfrm>
            <a:off x="795528" y="308152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80">
                <a:solidFill>
                  <a:srgbClr val="24364B"/>
                </a:solidFill>
              </a:rPr>
              <a:t>Yük testi; lag autoscaling; DB kesintisinde kayıpsız ingest; replay ve arşiv.</a:t>
            </a:r>
            <a:endParaRPr sz="118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08E990F-39B1-4D26-86E0-E786067ECF7D}"/>
              </a:ext>
            </a:extLst>
          </p:cNvPr>
          <p:cNvSpPr>
            <a:spLocks noGrp="1"/>
          </p:cNvSpPr>
          <p:nvPr/>
        </p:nvSpPr>
        <p:spPr>
          <a:xfrm>
            <a:off x="777240" y="38404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E31B23"/>
                </a:solidFill>
              </a:rPr>
              <a:t>Teslimatta mevcut</a:t>
            </a:r>
            <a:endParaRPr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5E948D-B3CA-4963-8BC6-388CE8FCA287}"/>
              </a:ext>
            </a:extLst>
          </p:cNvPr>
          <p:cNvSpPr>
            <a:spLocks noGrp="1"/>
          </p:cNvSpPr>
          <p:nvPr/>
        </p:nvSpPr>
        <p:spPr>
          <a:xfrm>
            <a:off x="795528" y="422452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80">
                <a:solidFill>
                  <a:srgbClr val="24364B"/>
                </a:solidFill>
              </a:rPr>
              <a:t>Docker Compose, Swagger demo, örnek event script’leri ve testler.</a:t>
            </a:r>
            <a:endParaRPr sz="118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0D33294-868C-4D2C-9607-E2B53AE1B04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943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DocSecurity>0</DocSecurity>
  <PresentationFormat>Geniş ekran</PresentationFormat>
  <Paragraphs>153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DejaVu Sans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Burak Erdem</cp:lastModifiedBy>
  <cp:revision>1</cp:revision>
  <dcterms:created xsi:type="dcterms:W3CDTF">2026-09-21T05:34:58Z</dcterms:created>
  <dcterms:modified xsi:type="dcterms:W3CDTF">2026-09-21T11:06:43Z</dcterms:modified>
</cp:coreProperties>
</file>